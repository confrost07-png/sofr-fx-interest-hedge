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2" r:id="rId23"/>
    <p:sldId id="257" r:id="rId7"/>
    <p:sldId id="273" r:id="rId24"/>
    <p:sldId id="258" r:id="rId8"/>
    <p:sldId id="259" r:id="rId9"/>
    <p:sldId id="274" r:id="rId25"/>
    <p:sldId id="260" r:id="rId10"/>
    <p:sldId id="261" r:id="rId11"/>
    <p:sldId id="262" r:id="rId12"/>
    <p:sldId id="263" r:id="rId13"/>
    <p:sldId id="275" r:id="rId26"/>
    <p:sldId id="264" r:id="rId14"/>
    <p:sldId id="265" r:id="rId15"/>
    <p:sldId id="266" r:id="rId16"/>
    <p:sldId id="277" r:id="rId28"/>
    <p:sldId id="278" r:id="rId29"/>
    <p:sldId id="267" r:id="rId17"/>
    <p:sldId id="268" r:id="rId18"/>
    <p:sldId id="276" r:id="rId27"/>
    <p:sldId id="269" r:id="rId19"/>
    <p:sldId id="270" r:id="rId20"/>
    <p:sldId id="271" r:id="rId21"/>
    <p:sldId id="279" r:id="rId3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0eYe+q3zM2HQfcGdCY9lW6vvO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21CF16-FFCF-41A3-9AF7-054866C5E894}">
  <a:tblStyle styleId="{9C21CF16-FFCF-41A3-9AF7-054866C5E89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customschemas.google.com/relationships/presentationmetadata" Target="metadata"/><Relationship Id="rId23" Type="http://schemas.openxmlformats.org/officeDocument/2006/relationships/slide" Target="slides/slide2.xml"/><Relationship Id="rId24" Type="http://schemas.openxmlformats.org/officeDocument/2006/relationships/slide" Target="slides/slide4.xml"/><Relationship Id="rId25" Type="http://schemas.openxmlformats.org/officeDocument/2006/relationships/slide" Target="slides/slide7.xml"/><Relationship Id="rId26" Type="http://schemas.openxmlformats.org/officeDocument/2006/relationships/slide" Target="slides/slide12.xml"/><Relationship Id="rId27" Type="http://schemas.openxmlformats.org/officeDocument/2006/relationships/slide" Target="slides/slide20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[0:20] 안녕하십니까, 2조 발표를 맡은 정지수입니다. 저희는 달러로 돈을 빌린 기업의 이자가 늘었을 때 그것이 금리 때문인지 환율 때문인지 나눠 보는 분석을 했습니다.</a:t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[0:50] 2020년부터 2025년까지 미국 금리는 0.01%에서 5.35%까지, 원/달러 환율은 1,086원에서 1,478원까지 움직였습니다. 달러 대출 기업은 이 두 위험을 동시에 집니다. 그래서 이자가 늘었을 때 원인을 나눠 설명하는 것이 RM에게 필요합니다.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[0:50] 과제는 환율과 금리의 상관 분석이었습니다. 그런데 상관계수 하나로 끝나면 누구에게 쓸모가 있을지 먼저 고민했습니다. 두 위험을 동시에 지는 사람은 달러로 빌리고 원화로 갚는 기업입니다. 이 기업의 대출 기준금리는 LIBOR 종료 이후 SOFR입니다. 그래서 차주가 '이번 달 이자가 왜 늘었나요'라고 물을 때 답할 수 있는 분석으로 주제를 좁혔습니다.</a:t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[0:50] 상관계수만 쓰면 두 변수가 함께 움직였는지는 알 수 있지만 이자가 왜 늘었는지는 답하지 못합니다. 그래서 상관을 수준값과 변화값으로 나눠 보고, 표준 30일 이자와 대칭분해로 금리와 환율 기여를 나눴습니다. 앱에서 조건을 바꿔 다시 계산할 수 있게 해 상담에 바로 쓰도록 설계했습니다.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[0:40] 분석 대상은 세 가지입니다. 금리는 복리 SOFR, 환율은 원/달러, 그리고 100만 달러를 가산금리 2%p로 빌린 가상 차주입니다. 비교를 위해 모든 달을 30일로 맞춘 표준 이자를 새 지표로 만들었습니다.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[0:40] 데이터는 모두 공식 출처입니다. SOFR Index는 뉴욕 연준, 원/달러는 미 연준 이사회 자료를 FRED에서 받았습니다. 두 자료 모두 1,588일이고 휴일 때문에 빈칸이 69일, 68일 있었습니다.</a:t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[1:00] 전처리 규칙은 네 가지입니다. 두 자료가 모두 있는 날만 쓰고, 휴일 빈칸은 채우지 않았습니다. 매달 마지막 날을 골라 71개월 비교 표본을 만들었고, 금리와 환율의 기여를 대칭분해로 나눴습니다. 71개월 모두 두 기여의 합이 실제 이자 변화와 일치합니다.</a:t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[1:00] 가장 오래 걸린 건 숫자를 하나로 맞추는 일이었습니다. 기준 파일 버전이 섞여 하나로 통일하고 변경 기록을 남겼습니다. 노트북에 실행 결과가 없어 원본에서 다시 계산해 보조 지표 10종이 일치함을 확인했습니다. 앱에서는 기간을 자른 뒤 변화값을 계산해 첫 달이 빠지는 문제가 있었는데, 전체 기간으로 계산한 뒤 자르도록 고쳐 지금은 보고서와 같습니다.</a:t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[0:50] 파란 선이 원/달러, 빨간 선이 복리 SOFR입니다. 금리는 2022년에 1년여 만에 5%대로 올랐습니다. 눈여겨볼 곳은 오른쪽 끝 인하기입니다. 빨간 선은 내려가는데 파란 선은 오히려 1,478원까지 올랐습니다.</a:t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[1:10] 핵심 결과입니다. 값 자체로 보면 상관이 +0.80으로 높습니다. 그런데 매달 얼마나 변했는지로 보면 -0.05, 거의 0입니다. 오른쪽 산점도처럼 점들이 0 주변에 방향 없이 흩어져 있습니다. p값은 0.67이고 95% 신뢰구간이 -0.28에서 +0.18이라, 중간 이상 강도의 관계는 없다고 말할 수 있습니다. 반대로 수준값 +0.80은 두 변수 모두 추세가 있어 p값이 과장되는 숫자라 결론에 쓰지 않았습니다.</a:t>
            </a:r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[1:00] 산점도를 보면 점들이 두 무리로 나뉩니다. 저금리·원화 강세 무리와 고금리·원화 약세 무리입니다. +0.80은 이 두 무리 사이의 차이에서 나왔습니다. 금리 국면을 고정하고 회귀를 돌리면 SOFR 계수가 -16원, p값 0.54로 0과 구분되지 않습니다. 2023년 이후만 보면 -0.56이지만 이것도 추세가 섞인 참고값이라 별표를 달았습니다. 그래서 '금리가 오르면 환율이 오른다'는 인과로 읽을 수 없습니다.</a:t>
            </a:r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[1:00] 가상 차주의 한 달 이자는 352만원에서 700만원으로 348만원 늘었습니다. 이 중 72%인 251만원이 금리 때문이었습니다. 특히 2022년 인상기에는 이자가 549만원 늘었는데 금리 기여가 555만원으로 더 컸습니다. 같은 기간 환율이 6만원을 줄여 줬기 때문입니다. 분해 방식을 바꿔도 72%는 그대로이고, 시작 달을 바꾸면 72%에서 81%라 72%는 보수적인 값입니다.</a:t>
            </a:r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[1:10] 월별 그래프를 보시면 환율 막대는 거의 매달 조금씩 있고, 금리 막대는 2020년 3월과 2022년에 크게 몰려 있습니다. 그래서 환율 기여가 더 큰 달은 44개월로 더 많지만, 흔들림의 크기를 모두 더하면 금리가 972만원으로 더 큽니다. 정리하면 환율은 자주, 금리는 크게입니다. 다만 44 대 27은 50:50과 통계적으로 구분되지는 않아서(p = 0.057), 개수로만 말씀드립니다.</a:t>
            </a:r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[1:20] 은행 업무에 쓰는 방법입니다. 첫째, 상담 때 '이자가 늘었다'를 원인별로 나눠 설명할 수 있습니다. 둘째, 금리가 내려가도 안심할 수 없습니다. 인하기에는 인하 효과의 34%가 환율로 상쇄됐습니다. 셋째, 지금 수준에서는 금리 1%p가 환율 10%보다 부담을 더 키우고, 둘이 동시에 오면 202만원이 늘어납니다.</a:t>
            </a:r>
            <a:endParaRPr/>
          </a:p>
        </p:txBody>
      </p:sp>
      <p:sp>
        <p:nvSpPr>
          <p:cNvPr id="312" name="Google Shape;3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[1:20] 앱 시연입니다. 시연 대본 별도. 기간을 2023~2025년으로 바꾸면 수준값 상관이 -0.56으로 뒤집히고 변화값 상관은 -0.02로 보고서와 같게 나옵니다.</a:t>
            </a:r>
            <a:endParaRPr/>
          </a:p>
        </p:txBody>
      </p:sp>
      <p:sp>
        <p:nvSpPr>
          <p:cNvPr id="334" name="Google Shape;3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[1:00] 결론은 세 가지입니다. [3줄 읽기] 다만 이 분석은 가상 대출 기준이고, 상관관계를 인과로 해석하지 않습니다. 감사합니다. 질문 받겠습니다.</a:t>
            </a:r>
            <a:endParaRPr/>
          </a:p>
        </p:txBody>
      </p:sp>
      <p:sp>
        <p:nvSpPr>
          <p:cNvPr id="357" name="Google Shape;3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[0:50] 산점도만 보면 점이 한 줄로 늘어서 있지 않아서 0.80처럼 안 보입니다. 상관계수는 점이 직선에 얼마나 붙어 있는지가 아니라, 두 값이 같이 평균보다 높거나 같이 낮았는지를 잽니다. 평균선 두 개로 네 칸을 나누면 저금리 25개월은 전부 왼쪽 아래, 고금리 39개월 중 36개월은 오른쪽 위에 있습니다. 72개월 중 65개월이 같은 방향 칸이라 +0.80이 나옵니다. 다만 무리 안에서는 +0.45(다중검정 보정 후 유의하지 않음), -0.40으로 약하거나 반대라, 이 숫자는 두 시기의 차이를 보여줄 뿐 '금리가 오르면 환율도 오른다'는 뜻은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[0:50] 발표 뒤에 결과가 다른 방법에서도 버티는지 다시 확인했습니다. 왼쪽 그림처럼 월별 환율 변화는 SOFR 변화와는 거의 관계가 없고(설명력 0.3%), 글로벌 달러지수 변화와는 56%가 같이 움직였습니다. 순위상관, 2020년 3월 제외, 한국 금리·VIX 통제, 검정 31개 다중비교 보정을 해도 결론은 같습니다. 아래 세 숫자는 통계적으로 확실하지 않아 참고로만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/>
          <p:nvPr/>
        </p:nvSpPr>
        <p:spPr>
          <a:xfrm>
            <a:off x="0" y="6784848"/>
            <a:ext cx="2194560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8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 04 · MINI PROJECT 03 | 2조 | 교육용 가상 분석이며 투자 권유가 아닙니다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5F6F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 04 · MINI PROJECT 03 | 2조 | 교육용 가상 분석이며 투자 권유가 아닙니다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  <a:defRPr b="1" i="0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9"/>
          <p:cNvSpPr/>
          <p:nvPr/>
        </p:nvSpPr>
        <p:spPr>
          <a:xfrm>
            <a:off x="548640" y="0"/>
            <a:ext cx="91440" cy="475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9"/>
          <p:cNvSpPr/>
          <p:nvPr/>
        </p:nvSpPr>
        <p:spPr>
          <a:xfrm>
            <a:off x="0" y="6784848"/>
            <a:ext cx="2194560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 rot="840000">
            <a:off x="9509760" y="-1097280"/>
            <a:ext cx="4206240" cy="8778240"/>
          </a:xfrm>
          <a:prstGeom prst="roundRect">
            <a:avLst>
              <a:gd fmla="val 13043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49640" y="5074920"/>
            <a:ext cx="1371600" cy="137160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548640" y="-640080"/>
            <a:ext cx="1463040" cy="14630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cap="flat" cmpd="sng" w="12700">
            <a:solidFill>
              <a:schemeClr val="accent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MODULE 04 · MINI PROJECT 03 | 2조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31520" y="1234440"/>
            <a:ext cx="822960" cy="8229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31520" y="146304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달러대출 이자가 늘었을 때</a:t>
            </a:r>
            <a:endParaRPr b="0" i="0" sz="4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 탓일까, 환율 탓일까?</a:t>
            </a:r>
            <a:endParaRPr b="0" i="0" sz="4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731520" y="338328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은행 기업금융 RM의 달러대출 상담: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복리 SOFR·원/달러 환율이 원화 이자부담에 미친 기여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731520" y="4651625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기간  2020.01 ~ 2025.12 (월별)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2조  원승연(팀장) · 김동민 · 정지수(발표) · 조윤호 · 조진영 · 최수인(멘토)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발표일  2026.10.06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731520" y="3931945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SOFR = 미국 담보부 익일물 금리 (달러 대출 기준금리)  |  RM = 은행 기업금융 담당자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2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00 목차</a:t>
            </a:r>
            <a:endParaRPr sz="1200"/>
          </a:p>
        </p:txBody>
      </p:sp>
      <p:sp>
        <p:nvSpPr>
          <p:cNvPr id="46" name="Google Shape;46;p2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목차</a:t>
            </a:r>
            <a:endParaRPr sz="2600"/>
          </a:p>
        </p:txBody>
      </p:sp>
      <p:sp>
        <p:nvSpPr>
          <p:cNvPr id="64" name="Google Shape;64;p2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1" name="New 1001"/>
          <p:cNvSpPr/>
          <p:nvPr/>
        </p:nvSpPr>
        <p:spPr>
          <a:xfrm>
            <a:off x="548640" y="1600200"/>
            <a:ext cx="2066544" cy="2880360"/>
          </a:xfrm>
          <a:prstGeom prst="roundRect">
            <a:avLst>
              <a:gd name="adj" fmla="val 8000"/>
            </a:avLst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02" name="New 1002"/>
          <p:cNvSpPr/>
          <p:nvPr/>
        </p:nvSpPr>
        <p:spPr>
          <a:xfrm>
            <a:off x="777240" y="18562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03" name="New 1003"/>
          <p:cNvSpPr txBox="1"/>
          <p:nvPr/>
        </p:nvSpPr>
        <p:spPr>
          <a:xfrm>
            <a:off x="777240" y="256032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004" name="New 1004"/>
          <p:cNvSpPr txBox="1"/>
          <p:nvPr/>
        </p:nvSpPr>
        <p:spPr>
          <a:xfrm>
            <a:off x="777240" y="329184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05" name="New 1005"/>
          <p:cNvSpPr txBox="1"/>
          <p:nvPr/>
        </p:nvSpPr>
        <p:spPr>
          <a:xfrm>
            <a:off x="777240" y="3611880"/>
            <a:ext cx="165506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6년 동안 크게 흔들린 금리와 환율</a:t>
            </a:r>
          </a:p>
        </p:txBody>
      </p:sp>
      <p:sp>
        <p:nvSpPr>
          <p:cNvPr id="1006" name="New 1006"/>
          <p:cNvSpPr/>
          <p:nvPr/>
        </p:nvSpPr>
        <p:spPr>
          <a:xfrm>
            <a:off x="2798064" y="1600200"/>
            <a:ext cx="2066544" cy="2880360"/>
          </a:xfrm>
          <a:prstGeom prst="roundRect">
            <a:avLst>
              <a:gd name="adj" fmla="val 8000"/>
            </a:avLst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07" name="New 1007"/>
          <p:cNvSpPr/>
          <p:nvPr/>
        </p:nvSpPr>
        <p:spPr>
          <a:xfrm>
            <a:off x="3026664" y="18562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08" name="New 1008"/>
          <p:cNvSpPr txBox="1"/>
          <p:nvPr/>
        </p:nvSpPr>
        <p:spPr>
          <a:xfrm>
            <a:off x="3026664" y="256032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09" name="New 1009"/>
          <p:cNvSpPr txBox="1"/>
          <p:nvPr/>
        </p:nvSpPr>
        <p:spPr>
          <a:xfrm>
            <a:off x="3026664" y="329184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10" name="New 1010"/>
          <p:cNvSpPr txBox="1"/>
          <p:nvPr/>
        </p:nvSpPr>
        <p:spPr>
          <a:xfrm>
            <a:off x="3026664" y="3611880"/>
            <a:ext cx="165506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왜 환율 × 금리를 달러대출 이자로 봤나</a:t>
            </a:r>
          </a:p>
        </p:txBody>
      </p:sp>
      <p:sp>
        <p:nvSpPr>
          <p:cNvPr id="1011" name="New 1011"/>
          <p:cNvSpPr/>
          <p:nvPr/>
        </p:nvSpPr>
        <p:spPr>
          <a:xfrm>
            <a:off x="5047488" y="1600200"/>
            <a:ext cx="2066544" cy="2880360"/>
          </a:xfrm>
          <a:prstGeom prst="roundRect">
            <a:avLst>
              <a:gd name="adj" fmla="val 8000"/>
            </a:avLst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12" name="New 1012"/>
          <p:cNvSpPr/>
          <p:nvPr/>
        </p:nvSpPr>
        <p:spPr>
          <a:xfrm>
            <a:off x="5276088" y="18562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13" name="New 1013"/>
          <p:cNvSpPr txBox="1"/>
          <p:nvPr/>
        </p:nvSpPr>
        <p:spPr>
          <a:xfrm>
            <a:off x="5276088" y="256032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14" name="New 1014"/>
          <p:cNvSpPr txBox="1"/>
          <p:nvPr/>
        </p:nvSpPr>
        <p:spPr>
          <a:xfrm>
            <a:off x="5276088" y="329184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03 ~ 06</a:t>
            </a:r>
          </a:p>
        </p:txBody>
      </p:sp>
      <p:sp>
        <p:nvSpPr>
          <p:cNvPr id="1015" name="New 1015"/>
          <p:cNvSpPr txBox="1"/>
          <p:nvPr/>
        </p:nvSpPr>
        <p:spPr>
          <a:xfrm>
            <a:off x="5276088" y="3611880"/>
            <a:ext cx="165506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분석 대상 · 데이터 수집 · 전처리 · 트러블슈팅</a:t>
            </a:r>
          </a:p>
        </p:txBody>
      </p:sp>
      <p:sp>
        <p:nvSpPr>
          <p:cNvPr id="1016" name="New 1016"/>
          <p:cNvSpPr/>
          <p:nvPr/>
        </p:nvSpPr>
        <p:spPr>
          <a:xfrm>
            <a:off x="7296912" y="1600200"/>
            <a:ext cx="2066544" cy="2880360"/>
          </a:xfrm>
          <a:prstGeom prst="roundRect">
            <a:avLst>
              <a:gd name="adj" fmla="val 8000"/>
            </a:avLst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17" name="New 1017"/>
          <p:cNvSpPr/>
          <p:nvPr/>
        </p:nvSpPr>
        <p:spPr>
          <a:xfrm>
            <a:off x="7525512" y="18562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018" name="New 1018"/>
          <p:cNvSpPr txBox="1"/>
          <p:nvPr/>
        </p:nvSpPr>
        <p:spPr>
          <a:xfrm>
            <a:off x="7525512" y="256032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19" name="New 1019"/>
          <p:cNvSpPr txBox="1"/>
          <p:nvPr/>
        </p:nvSpPr>
        <p:spPr>
          <a:xfrm>
            <a:off x="7525512" y="329184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07 ~ 11</a:t>
            </a:r>
          </a:p>
        </p:txBody>
      </p:sp>
      <p:sp>
        <p:nvSpPr>
          <p:cNvPr id="1020" name="New 1020"/>
          <p:cNvSpPr txBox="1"/>
          <p:nvPr/>
        </p:nvSpPr>
        <p:spPr>
          <a:xfrm>
            <a:off x="7525512" y="3611880"/>
            <a:ext cx="165506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시계열 · 상관계수 · 산점도 · 이자 기여도</a:t>
            </a:r>
          </a:p>
        </p:txBody>
      </p:sp>
      <p:sp>
        <p:nvSpPr>
          <p:cNvPr id="1021" name="New 1021"/>
          <p:cNvSpPr/>
          <p:nvPr/>
        </p:nvSpPr>
        <p:spPr>
          <a:xfrm>
            <a:off x="9546336" y="1600200"/>
            <a:ext cx="2066544" cy="2880360"/>
          </a:xfrm>
          <a:prstGeom prst="roundRect">
            <a:avLst>
              <a:gd name="adj" fmla="val 8000"/>
            </a:avLst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22" name="New 1022"/>
          <p:cNvSpPr/>
          <p:nvPr/>
        </p:nvSpPr>
        <p:spPr>
          <a:xfrm>
            <a:off x="9774936" y="18562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023" name="New 1023"/>
          <p:cNvSpPr txBox="1"/>
          <p:nvPr/>
        </p:nvSpPr>
        <p:spPr>
          <a:xfrm>
            <a:off x="9774936" y="256032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  <p:sp>
        <p:nvSpPr>
          <p:cNvPr id="1024" name="New 1024"/>
          <p:cNvSpPr txBox="1"/>
          <p:nvPr/>
        </p:nvSpPr>
        <p:spPr>
          <a:xfrm>
            <a:off x="9774936" y="329184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12 ~ 14</a:t>
            </a:r>
          </a:p>
        </p:txBody>
      </p:sp>
      <p:sp>
        <p:nvSpPr>
          <p:cNvPr id="1025" name="New 1025"/>
          <p:cNvSpPr txBox="1"/>
          <p:nvPr/>
        </p:nvSpPr>
        <p:spPr>
          <a:xfrm>
            <a:off x="9774936" y="3611880"/>
            <a:ext cx="165506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2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상담 활용 · 앱 시연 · 결론과 한계</a:t>
            </a:r>
          </a:p>
        </p:txBody>
      </p:sp>
      <p:sp>
        <p:nvSpPr>
          <p:cNvPr id="1026" name="New 1026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27" name="New 1027"/>
          <p:cNvSpPr txBox="1"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오늘의 질문   </a:t>
            </a:r>
            <a:r>
              <a:rPr lang="ko-KR" sz="15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달러대출 이자가 늘었을 때, 금리 탓일까 환율 탓일까?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2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01 배경</a:t>
            </a:r>
            <a:endParaRPr sz="1200"/>
          </a:p>
        </p:txBody>
      </p:sp>
      <p:sp>
        <p:nvSpPr>
          <p:cNvPr id="46" name="Google Shape;46;p2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6년 동안 금리와 환율이 모두 크게 흔들렸다</a:t>
            </a:r>
            <a:endParaRPr sz="2600"/>
          </a:p>
        </p:txBody>
      </p:sp>
      <p:sp>
        <p:nvSpPr>
          <p:cNvPr id="47" name="Google Shape;47;p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343400" y="1554480"/>
            <a:ext cx="3566160" cy="219456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474720" y="171907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ChartLine.png" id="50" name="Google Shape;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020" y="1833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7269480" y="171907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ExchangeAlt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3780" y="1833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777240" y="1691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복리 SOFR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777240" y="21488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0.01% → 5.35%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2021.04 최저 → 2024.07 최고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4572000" y="1691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원/달러 환율 (월말)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4572000" y="21488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1,086원 → 1,478원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4572000" y="3063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2020.12 최저 → 2024.12 최고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8229600" y="155448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SOFR인가</a:t>
            </a:r>
            <a:endParaRPr b="1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2023.06.30 USD LIBOR 공표 종료 이후 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달러 변동금리 대출의 대표 기준금리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algun Gothic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누가 영향을 받나</a:t>
            </a:r>
            <a:endParaRPr b="1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달러로 빌리고 원화로 갚는 기업은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 위험과 환율 위험을 동시에 진다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" y="4069080"/>
            <a:ext cx="11064240" cy="1600200"/>
          </a:xfrm>
          <a:prstGeom prst="roundRect">
            <a:avLst>
              <a:gd fmla="val 685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822960" y="420624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상황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차주가 "이번 달 이자가 왜 늘었나요?"라고 물을 때, RM은 금리와 환율 중 무엇 때문인지 숫자로 나눠 설명할 수 있어야 한다.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548640" y="5760720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LIBOR = 과거 국제 대표 기준금리 (런던 은행 간 금리)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FRED SOFRINDEX·DEXKOUS 월말 기준 (보고서 v0.4 4절), New York Fed ARRC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2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 rot="840000">
            <a:off x="9509760" y="-1097280"/>
            <a:ext cx="4206240" cy="8778240"/>
          </a:xfrm>
          <a:prstGeom prst="roundRect">
            <a:avLst>
              <a:gd fmla="val 13043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49640" y="5074920"/>
            <a:ext cx="1371600" cy="137160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548640" y="-640080"/>
            <a:ext cx="1463040" cy="14630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cap="flat" cmpd="sng" w="12700">
            <a:solidFill>
              <a:schemeClr val="accent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1520" y="1234440"/>
            <a:ext cx="822960" cy="8229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8" name="New 1028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PART 2 / 5</a:t>
            </a:r>
          </a:p>
        </p:txBody>
      </p:sp>
      <p:sp>
        <p:nvSpPr>
          <p:cNvPr id="1029" name="New 1029"/>
          <p:cNvSpPr txBox="1"/>
          <p:nvPr/>
        </p:nvSpPr>
        <p:spPr>
          <a:xfrm>
            <a:off x="731520" y="146304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4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30" name="New 1030"/>
          <p:cNvSpPr txBox="1"/>
          <p:nvPr/>
        </p:nvSpPr>
        <p:spPr>
          <a:xfrm>
            <a:off x="731520" y="2468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2000" b="0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이 주제를 어떻게 정했는지</a:t>
            </a:r>
          </a:p>
        </p:txBody>
      </p:sp>
      <p:sp>
        <p:nvSpPr>
          <p:cNvPr id="1031" name="New 1031"/>
          <p:cNvSpPr txBox="1"/>
          <p:nvPr/>
        </p:nvSpPr>
        <p:spPr>
          <a:xfrm>
            <a:off x="731520" y="3246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02  주제 선정 과정 ① · ②</a:t>
            </a:r>
          </a:p>
        </p:txBody>
      </p:sp>
      <p:sp>
        <p:nvSpPr>
          <p:cNvPr id="1032" name="New 1032"/>
          <p:cNvSpPr/>
          <p:nvPr/>
        </p:nvSpPr>
        <p:spPr>
          <a:xfrm>
            <a:off x="731520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1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033" name="New 1033"/>
          <p:cNvSpPr/>
          <p:nvPr/>
        </p:nvSpPr>
        <p:spPr>
          <a:xfrm>
            <a:off x="2359152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PART 2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34" name="New 1034"/>
          <p:cNvSpPr/>
          <p:nvPr/>
        </p:nvSpPr>
        <p:spPr>
          <a:xfrm>
            <a:off x="3986784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3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35" name="New 1035"/>
          <p:cNvSpPr/>
          <p:nvPr/>
        </p:nvSpPr>
        <p:spPr>
          <a:xfrm>
            <a:off x="5614416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4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36" name="New 1036"/>
          <p:cNvSpPr/>
          <p:nvPr/>
        </p:nvSpPr>
        <p:spPr>
          <a:xfrm>
            <a:off x="7242048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5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02 주제 선정 과정 ①</a:t>
            </a:r>
            <a:endParaRPr sz="1200"/>
          </a:p>
        </p:txBody>
      </p:sp>
      <p:sp>
        <p:nvSpPr>
          <p:cNvPr id="72" name="Google Shape;72;p3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왜 환율 × 금리를 '달러대출 이자'로 봤나</a:t>
            </a:r>
            <a:endParaRPr sz="2600"/>
          </a:p>
        </p:txBody>
      </p:sp>
      <p:sp>
        <p:nvSpPr>
          <p:cNvPr id="73" name="Google Shape;73;p3"/>
          <p:cNvSpPr/>
          <p:nvPr/>
        </p:nvSpPr>
        <p:spPr>
          <a:xfrm>
            <a:off x="548640" y="1600200"/>
            <a:ext cx="2514600" cy="269748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344168"/>
            <a:ext cx="512064" cy="51206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ClipboardList.png"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749808" y="19019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과제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49808" y="226771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환율·금리 상관 분석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49808" y="301752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"상관계수 하나로 끝나면 누구에게 쓸모가 있나?"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063240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383280" y="1600200"/>
            <a:ext cx="2514600" cy="269748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584448" y="1344168"/>
            <a:ext cx="512064" cy="51206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Building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2464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3584448" y="19019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누가 두 위험을 지나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584448" y="226771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달러로 빌리고 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원화로 갚는 기업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584448" y="301752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금리가 오르면 달러 이자가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늘고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원화가 약해지면 원화 환산액이 늘어남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5897880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17920" y="1600200"/>
            <a:ext cx="2514600" cy="269748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419088" y="1344168"/>
            <a:ext cx="512064" cy="51206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Percent.png" id="89" name="Google Shape;8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6419088" y="19019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어떤 금리인가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419088" y="226771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대출에 쓰이는 SOFR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419088" y="301752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2023.06.30 USD LIBOR 공표 종료 → 달러 변동금리 대출 기준금리는 SOFR, Index로 복리 계산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8732520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052560" y="1600200"/>
            <a:ext cx="2514600" cy="2697480"/>
          </a:xfrm>
          <a:prstGeom prst="roundRect">
            <a:avLst>
              <a:gd fmla="val 4364" name="adj"/>
            </a:avLst>
          </a:prstGeom>
          <a:solidFill>
            <a:schemeClr val="accent5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9253728" y="1344168"/>
            <a:ext cx="512064" cy="51206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Comments.png" id="96" name="Google Shape;9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1744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9253728" y="19019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무엇에 답하나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9253728" y="2267712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"이번 달 이자가 왜 늘었나요?"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9253728" y="301752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함께 움직였나(상관) + 얼마가 금리, 얼마가 환율(기여도 분해)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fmla="val 7742" name="adj"/>
            </a:avLst>
          </a:prstGeom>
          <a:solidFill>
            <a:schemeClr val="accent6"/>
          </a:solidFill>
          <a:ln cap="flat" cmpd="sng" w="9525">
            <a:solidFill>
              <a:srgbClr val="E3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822960" y="4526280"/>
            <a:ext cx="10607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질문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복리 SOFR와 원/달러 환율은 같은 기간에 얼마나 함께 움직였는가?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높은 수준값 상관이 실제 월별 변화의 동행을 뜻하는가?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가상 달러대출의 원화 이자부담이 변할 때 금리와 환율 중 어느 쪽 기여가 컸는가?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주제 세부기획서, New York Fed ARRC (USD LIBOR 전환)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3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02 주제 선정 과정 ②</a:t>
            </a:r>
            <a:endParaRPr sz="1200"/>
          </a:p>
        </p:txBody>
      </p:sp>
      <p:sp>
        <p:nvSpPr>
          <p:cNvPr id="111" name="Google Shape;111;p4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상관계수만으로는 RM 질문에 답할 수 없다</a:t>
            </a:r>
            <a:endParaRPr sz="2600"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3108950"/>
                <a:gridCol w="3017525"/>
                <a:gridCol w="49377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RM이 알고 싶은 것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상관계수만 쓰면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우리 설계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두 변수가 함께 움직였나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수준값 상관 하나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수준값 + 변화값 상관, 기간 분할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이자 변화의 원인은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답 못 함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표준 30일 이자 + 대칭분해 기여도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상담에 바로 쓸 수 있나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숫자만 남음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앱에서 기간·원금·가산금리 바꿔 재계산, 월별 상담 문장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4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822960" y="470916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이유  </a:t>
            </a:r>
            <a:r>
              <a:rPr b="1" i="0" lang="en-US" sz="16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과제의 상관 분석을 실제 은행 상담 질문에 답하는 도구로 확장했다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주제 세부기획서, 보고서 v0.4 1절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4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 rot="840000">
            <a:off x="9509760" y="-1097280"/>
            <a:ext cx="4206240" cy="8778240"/>
          </a:xfrm>
          <a:prstGeom prst="roundRect">
            <a:avLst>
              <a:gd fmla="val 13043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49640" y="5074920"/>
            <a:ext cx="1371600" cy="137160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548640" y="-640080"/>
            <a:ext cx="1463040" cy="14630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cap="flat" cmpd="sng" w="12700">
            <a:solidFill>
              <a:schemeClr val="accent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1520" y="1234440"/>
            <a:ext cx="822960" cy="8229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New 1037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PART 3 / 5</a:t>
            </a:r>
          </a:p>
        </p:txBody>
      </p:sp>
      <p:sp>
        <p:nvSpPr>
          <p:cNvPr id="1038" name="New 1038"/>
          <p:cNvSpPr txBox="1"/>
          <p:nvPr/>
        </p:nvSpPr>
        <p:spPr>
          <a:xfrm>
            <a:off x="731520" y="146304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4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39" name="New 1039"/>
          <p:cNvSpPr txBox="1"/>
          <p:nvPr/>
        </p:nvSpPr>
        <p:spPr>
          <a:xfrm>
            <a:off x="731520" y="2468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2000" b="0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어떤 데이터를 어떻게 다뤘고, 막힌 곳은 어떻게 풀었는지</a:t>
            </a:r>
          </a:p>
        </p:txBody>
      </p:sp>
      <p:sp>
        <p:nvSpPr>
          <p:cNvPr id="1040" name="New 1040"/>
          <p:cNvSpPr txBox="1"/>
          <p:nvPr/>
        </p:nvSpPr>
        <p:spPr>
          <a:xfrm>
            <a:off x="731520" y="3246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03  분석 대상   04  데이터 출처·수집   05  전처리   06  트러블슈팅</a:t>
            </a:r>
          </a:p>
        </p:txBody>
      </p:sp>
      <p:sp>
        <p:nvSpPr>
          <p:cNvPr id="1041" name="New 1041"/>
          <p:cNvSpPr/>
          <p:nvPr/>
        </p:nvSpPr>
        <p:spPr>
          <a:xfrm>
            <a:off x="731520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1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042" name="New 1042"/>
          <p:cNvSpPr/>
          <p:nvPr/>
        </p:nvSpPr>
        <p:spPr>
          <a:xfrm>
            <a:off x="2359152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2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43" name="New 1043"/>
          <p:cNvSpPr/>
          <p:nvPr/>
        </p:nvSpPr>
        <p:spPr>
          <a:xfrm>
            <a:off x="3986784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PART 3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44" name="New 1044"/>
          <p:cNvSpPr/>
          <p:nvPr/>
        </p:nvSpPr>
        <p:spPr>
          <a:xfrm>
            <a:off x="5614416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4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45" name="New 1045"/>
          <p:cNvSpPr/>
          <p:nvPr/>
        </p:nvSpPr>
        <p:spPr>
          <a:xfrm>
            <a:off x="7242048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5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03 분석 대상</a:t>
            </a:r>
            <a:endParaRPr sz="1200"/>
          </a:p>
        </p:txBody>
      </p:sp>
      <p:sp>
        <p:nvSpPr>
          <p:cNvPr id="124" name="Google Shape;124;p5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금리 하나, 환율 하나, 가상 차주 한 명을 6년간 추적했다</a:t>
            </a:r>
            <a:endParaRPr sz="2600"/>
          </a:p>
        </p:txBody>
      </p:sp>
      <p:sp>
        <p:nvSpPr>
          <p:cNvPr id="125" name="Google Shape;125;p5"/>
          <p:cNvSpPr/>
          <p:nvPr/>
        </p:nvSpPr>
        <p:spPr>
          <a:xfrm>
            <a:off x="548640" y="1600200"/>
            <a:ext cx="3474720" cy="2103120"/>
          </a:xfrm>
          <a:prstGeom prst="roundRect">
            <a:avLst>
              <a:gd fmla="val 521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291840" y="17830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Percent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7570" y="19088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82296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82296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복리 SOFR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2960" y="27889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SOFR Index로 월별 복리 금리 계산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297680" y="1600200"/>
            <a:ext cx="3474720" cy="2103120"/>
          </a:xfrm>
          <a:prstGeom prst="roundRect">
            <a:avLst>
              <a:gd fmla="val 521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040880" y="17830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WonSign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6610" y="19088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457200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57200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원/달러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572000" y="27889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매월 마지막 공통 관측일 환율로 원화 환산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046720" y="1600200"/>
            <a:ext cx="3474720" cy="2103120"/>
          </a:xfrm>
          <a:prstGeom prst="roundRect">
            <a:avLst>
              <a:gd fmla="val 521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0789920" y="17830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UserTie.png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15650" y="19088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8321040" y="17830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차주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832104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USD 100만 대출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8321040" y="27889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가산금리 연 2%p, 달러 변동금리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48640" y="3931920"/>
            <a:ext cx="11064240" cy="1554480"/>
          </a:xfrm>
          <a:prstGeom prst="roundRect">
            <a:avLst>
              <a:gd fmla="val 7059" name="adj"/>
            </a:avLst>
          </a:prstGeom>
          <a:solidFill>
            <a:schemeClr val="accent6"/>
          </a:solidFill>
          <a:ln cap="flat" cmpd="sng" w="9525">
            <a:solidFill>
              <a:srgbClr val="E3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822960" y="3977640"/>
            <a:ext cx="10607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지표: 표준 30일 원화 이자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원금 × (복리 SOFR + 가산금리 2%p) ÷ 12 × 월말 환율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달마다 일수가 달라 생기는 차이를 없애려고 모든 달을 30일로 맞춘 비교용 가상 지표 (실제 청구액 아님)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48640" y="5513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2020.01 ~ 2025.12인가</a:t>
            </a:r>
            <a:endParaRPr b="0" i="0" sz="11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코로나 저금리 → 금리 인상 → 고금리 유지 → 인하까지 연준 금리 한 사이클과 LIBOR 종료(2023.06)를 모두 포함하는, 연 단위로 완결된 최근 6년</a:t>
            </a:r>
            <a:endParaRPr b="0" i="0" sz="11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주제 세부기획서, 보고서 v0.4 1절 (시작점 2019년 12월 말), New York Fed ARRC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5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04 데이터 출처·수집</a:t>
            </a:r>
            <a:endParaRPr sz="1200"/>
          </a:p>
        </p:txBody>
      </p:sp>
      <p:sp>
        <p:nvSpPr>
          <p:cNvPr id="155" name="Google Shape;155;p6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공식 자료 2종을 FRED에서 받았다: 각 1,588일</a:t>
            </a:r>
            <a:endParaRPr sz="2600"/>
          </a:p>
        </p:txBody>
      </p:sp>
      <p:graphicFrame>
        <p:nvGraphicFramePr>
          <p:cNvPr id="156" name="Google Shape;156;p6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2011675"/>
                <a:gridCol w="2377450"/>
                <a:gridCol w="2011675"/>
                <a:gridCol w="2011675"/>
                <a:gridCol w="26517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자료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작성 기관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단위 · 주기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원본 행 · 결측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분석에서의 역할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SOFR Index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(SOFRINDEX)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뉴욕 연준 → FRED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지수(2018.04.02 = 1)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일별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1,588일 · 결측 69일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두 월말 지수 비율로 기간 복리 SOFR 계산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원/달러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(DEXKOUS)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미 연준 이사회 H.10 → FRED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1달러당 원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일별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1,588일 · 결측 68일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월말 원화 환산, 환율 변화율 계산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6"/>
          <p:cNvSpPr/>
          <p:nvPr/>
        </p:nvSpPr>
        <p:spPr>
          <a:xfrm>
            <a:off x="548640" y="4114800"/>
            <a:ext cx="5394960" cy="164592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Download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48006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1600200" y="420624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방법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FRED에서 두 시계열 원본 CSV 수집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수록 기간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2019.12.02 ~ 2025.12.31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조회일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2026.10.02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217920" y="4114800"/>
            <a:ext cx="5394960" cy="164592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ExclamationTriangle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48006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7269480" y="420624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주의할 점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DEXKOUS는 뉴욕 정오 기준 환율이라 서울 외환시장 종가, 국내 은행 매매기준율과 차이가 있을 수 있다.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FRED SOFRINDEX · DEXKOUS (Federal Reserve Bank of St. Louis), New York Fed SOFR Averages and Index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6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7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05 전처리</a:t>
            </a:r>
            <a:endParaRPr sz="1200"/>
          </a:p>
        </p:txBody>
      </p:sp>
      <p:sp>
        <p:nvSpPr>
          <p:cNvPr id="174" name="Google Shape;174;p7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규칙 4개로 1,588일을 71개월 비교 표본으로 만들었다</a:t>
            </a:r>
            <a:endParaRPr sz="2600"/>
          </a:p>
        </p:txBody>
      </p:sp>
      <p:sp>
        <p:nvSpPr>
          <p:cNvPr id="175" name="Google Shape;175;p7"/>
          <p:cNvSpPr/>
          <p:nvPr/>
        </p:nvSpPr>
        <p:spPr>
          <a:xfrm>
            <a:off x="548640" y="1554480"/>
            <a:ext cx="1920240" cy="1051560"/>
          </a:xfrm>
          <a:prstGeom prst="roundRect">
            <a:avLst>
              <a:gd fmla="val 10435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548640" y="16002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1,588일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2468880" y="17830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834640" y="1554480"/>
            <a:ext cx="1920240" cy="1051560"/>
          </a:xfrm>
          <a:prstGeom prst="roundRect">
            <a:avLst>
              <a:gd fmla="val 10435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2834640" y="16002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1,514일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2834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관측일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4754880" y="17830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120640" y="1554480"/>
            <a:ext cx="1920240" cy="1051560"/>
          </a:xfrm>
          <a:prstGeom prst="roundRect">
            <a:avLst>
              <a:gd fmla="val 10435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5120640" y="16002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73개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120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월말 끝점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040880" y="17830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406640" y="1554480"/>
            <a:ext cx="1920240" cy="1051560"/>
          </a:xfrm>
          <a:prstGeom prst="roundRect">
            <a:avLst>
              <a:gd fmla="val 10435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7406640" y="16002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72개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406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이자 계산 기간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9326880" y="17830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692640" y="1554480"/>
            <a:ext cx="1920240" cy="1051560"/>
          </a:xfrm>
          <a:prstGeom prst="roundRect">
            <a:avLst>
              <a:gd fmla="val 10435" name="adj"/>
            </a:avLst>
          </a:prstGeom>
          <a:solidFill>
            <a:schemeClr val="accent5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9692640" y="16002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71개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9692640" y="21488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월간 변화 비교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" y="2880360"/>
            <a:ext cx="5440680" cy="128016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Link.png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383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>
            <a:off x="1554480" y="2880360"/>
            <a:ext cx="4251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공통 관측일만 사용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자료 모두 값이 있는 날만 남김 (inner join)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72200" y="2880360"/>
            <a:ext cx="5440680" cy="128016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446520" y="324612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Ban.png" id="200" name="Google Shape;2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3383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7178040" y="2880360"/>
            <a:ext cx="4251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휴일 결측은 채우지 않음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직전 값으로 메우면 없던 값을 만들게 되므로 제외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" y="4343400"/>
            <a:ext cx="5440680" cy="128016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CalendarAlt.png" id="204" name="Google Shape;2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4846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1554480" y="4343400"/>
            <a:ext cx="4251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월말 끝점 선택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매월 마지막 공통 관측일, 2019년 12월 말을 시작점으로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172200" y="4343400"/>
            <a:ext cx="5440680" cy="1280160"/>
          </a:xfrm>
          <a:prstGeom prst="roundRect">
            <a:avLst>
              <a:gd fmla="val 8571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446520" y="470916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FaBalanceScale.png" id="208" name="Google Shape;2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3680" y="4846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 txBox="1"/>
          <p:nvPr/>
        </p:nvSpPr>
        <p:spPr>
          <a:xfrm>
            <a:off x="7178040" y="4343400"/>
            <a:ext cx="4251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대칭분해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금리·환율이 함께 변해 생긴 겹친 부분을 절반씩 배분 → 두 기여의 합 = 이자 변화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보고서 v0.4 3절, monthly_analysis.csv · metrics.json v1.2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7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8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06 트러블슈팅</a:t>
            </a:r>
            <a:endParaRPr sz="1200"/>
          </a:p>
        </p:txBody>
      </p:sp>
      <p:sp>
        <p:nvSpPr>
          <p:cNvPr id="219" name="Google Shape;219;p8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트러블슈팅: 데이터 수집부터 앱·보고서 숫자 일치까지</a:t>
            </a:r>
            <a:endParaRPr sz="2600"/>
          </a:p>
        </p:txBody>
      </p:sp>
      <p:graphicFrame>
        <p:nvGraphicFramePr>
          <p:cNvPr id="220" name="Google Shape;220;p8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3566150"/>
                <a:gridCol w="3749050"/>
                <a:gridCol w="3749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문제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원인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해결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노트북에서 FRED 다운로드 시간초과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두 시계열을 차례로 요청하다 응답이 지연되면 멈춤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동시 요청 + 시간 제한 설정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숫자 기준 파일의 버전이 섞임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(metrics v1·v1.2)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수정본이 공유되면서 문서마다 참조한 버전이 달라짐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기준 파일 하나로 통일, 버전·변경 기록(changelog) 남김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노트북이 실행 결과 없이 저장되어 검산 확인 불가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출력이 없어 코드 결과와 문서 숫자를 대조할 수 없음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원본 CSV에서 재계산해 보조 지표 10종 일치 확인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앱에서 기간을 자르면 보고서와 값이 다름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(2023~2025 변화값 +0.04 vs -0.02)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기간을 자른 뒤 변화값을 계산해 첫 달 변화가 빠짐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전체 기간으로 계산한 뒤 자르도록 수정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accent1"/>
                          </a:solidFill>
                        </a:rPr>
                        <a:t>→ 보고서와 동일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병합 후 한쪽만 빈 날이 생김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미국 채권시장 휴장일과 환율 고시일이 다름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(예: 2020-04-10)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공통 관측일만 사용, 전일값으로 채우지 않음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8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2조 작업 기록, metrics.json v1.2, 보고서 v0.4 3절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8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 rot="840000">
            <a:off x="9509760" y="-1097280"/>
            <a:ext cx="4206240" cy="8778240"/>
          </a:xfrm>
          <a:prstGeom prst="roundRect">
            <a:avLst>
              <a:gd fmla="val 13043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49640" y="5074920"/>
            <a:ext cx="1371600" cy="137160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548640" y="-640080"/>
            <a:ext cx="1463040" cy="14630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cap="flat" cmpd="sng" w="12700">
            <a:solidFill>
              <a:schemeClr val="accent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1520" y="1234440"/>
            <a:ext cx="822960" cy="8229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6" name="New 1046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PART 4 / 5</a:t>
            </a:r>
          </a:p>
        </p:txBody>
      </p:sp>
      <p:sp>
        <p:nvSpPr>
          <p:cNvPr id="1047" name="New 1047"/>
          <p:cNvSpPr txBox="1"/>
          <p:nvPr/>
        </p:nvSpPr>
        <p:spPr>
          <a:xfrm>
            <a:off x="731520" y="146304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4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48" name="New 1048"/>
          <p:cNvSpPr txBox="1"/>
          <p:nvPr/>
        </p:nvSpPr>
        <p:spPr>
          <a:xfrm>
            <a:off x="731520" y="2468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2000" b="0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두 변수는 함께 움직였나, 이자는 왜 늘었나</a:t>
            </a:r>
          </a:p>
        </p:txBody>
      </p:sp>
      <p:sp>
        <p:nvSpPr>
          <p:cNvPr id="1049" name="New 1049"/>
          <p:cNvSpPr txBox="1"/>
          <p:nvPr/>
        </p:nvSpPr>
        <p:spPr>
          <a:xfrm>
            <a:off x="731520" y="3246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07  시계열   08  상관계수   09  산점도   10  기여도   11  월별 기여</a:t>
            </a:r>
          </a:p>
        </p:txBody>
      </p:sp>
      <p:sp>
        <p:nvSpPr>
          <p:cNvPr id="1050" name="New 1050"/>
          <p:cNvSpPr/>
          <p:nvPr/>
        </p:nvSpPr>
        <p:spPr>
          <a:xfrm>
            <a:off x="731520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1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051" name="New 1051"/>
          <p:cNvSpPr/>
          <p:nvPr/>
        </p:nvSpPr>
        <p:spPr>
          <a:xfrm>
            <a:off x="2359152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2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52" name="New 1052"/>
          <p:cNvSpPr/>
          <p:nvPr/>
        </p:nvSpPr>
        <p:spPr>
          <a:xfrm>
            <a:off x="3986784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3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53" name="New 1053"/>
          <p:cNvSpPr/>
          <p:nvPr/>
        </p:nvSpPr>
        <p:spPr>
          <a:xfrm>
            <a:off x="5614416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PART 4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54" name="New 1054"/>
          <p:cNvSpPr/>
          <p:nvPr/>
        </p:nvSpPr>
        <p:spPr>
          <a:xfrm>
            <a:off x="7242048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5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9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07 분석 결과 ① 시계열</a:t>
            </a:r>
            <a:endParaRPr sz="1200"/>
          </a:p>
        </p:txBody>
      </p:sp>
      <p:sp>
        <p:nvSpPr>
          <p:cNvPr id="230" name="Google Shape;230;p9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금리는 2022년에 급등했고, 환율은 금리 인하기에도 올랐다</a:t>
            </a:r>
            <a:endParaRPr sz="2600"/>
          </a:p>
        </p:txBody>
      </p:sp>
      <p:sp>
        <p:nvSpPr>
          <p:cNvPr id="231" name="Google Shape;231;p9"/>
          <p:cNvSpPr/>
          <p:nvPr/>
        </p:nvSpPr>
        <p:spPr>
          <a:xfrm>
            <a:off x="621792" y="1408176"/>
            <a:ext cx="7461504" cy="3072384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원/달러 월말 환율과 월별 복리 SOFR 시계열 (2020.01~2025.12)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" y="1481328"/>
            <a:ext cx="73152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8366760" y="1554480"/>
            <a:ext cx="3246120" cy="274320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8595360" y="1645920"/>
            <a:ext cx="2834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인하기에는 반대로 움직였다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algun Gothic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SOFR 5.17% → 3.82%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원/달러는 오히려 상승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highlight>
                  <a:srgbClr val="FFBC00"/>
                </a:highlight>
                <a:latin typeface="Malgun Gothic"/>
                <a:ea typeface="Malgun Gothic"/>
                <a:cs typeface="Malgun Gothic"/>
                <a:sym typeface="Malgun Gothic"/>
              </a:rPr>
              <a:t>2024.12 최고 1,478원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5" name="Google Shape;235;p9"/>
          <p:cNvGraphicFramePr/>
          <p:nvPr/>
        </p:nvGraphicFramePr>
        <p:xfrm>
          <a:off x="548640" y="4526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1554475"/>
                <a:gridCol w="2377450"/>
                <a:gridCol w="2377450"/>
                <a:gridCol w="2377450"/>
                <a:gridCol w="23774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구간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저금리기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2020.01 ~ 2022.02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인상기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2022.03 ~ 2023.07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고금리 유지기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2023.08 ~ 2024.08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인하기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2024.09 ~ 2025.12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복리 SOFR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평균 0.20%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0.16% → 5.10%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5.31 ~ 5.35%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5.17% → 3.82%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원/달러 (월말)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1,086 ~ 1,237원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1,212 ~ 1,432원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1,290 ~ 1,385원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1,315 ~ 1,478원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FRED SOFRINDEX · DEXKOUS, 보고서 v0.4 4절, output/figures/timeseries.png (구간은 연준 정책 기준 보조 구분)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9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0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08 분석 결과 ② 상관계수</a:t>
            </a:r>
            <a:endParaRPr sz="1200"/>
          </a:p>
        </p:txBody>
      </p:sp>
      <p:sp>
        <p:nvSpPr>
          <p:cNvPr id="245" name="Google Shape;245;p10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수준값 상관 +0.80, 월별 변화 상관 -0.05</a:t>
            </a:r>
            <a:endParaRPr sz="2600"/>
          </a:p>
        </p:txBody>
      </p:sp>
      <p:sp>
        <p:nvSpPr>
          <p:cNvPr id="246" name="Google Shape;246;p10"/>
          <p:cNvSpPr/>
          <p:nvPr/>
        </p:nvSpPr>
        <p:spPr>
          <a:xfrm>
            <a:off x="548640" y="1554480"/>
            <a:ext cx="3566160" cy="2651760"/>
          </a:xfrm>
          <a:prstGeom prst="roundRect">
            <a:avLst>
              <a:gd fmla="val 4138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4297680" y="1554480"/>
            <a:ext cx="3566160" cy="2651760"/>
          </a:xfrm>
          <a:prstGeom prst="roundRect">
            <a:avLst>
              <a:gd fmla="val 4138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777240" y="1903544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 상관 (72개월)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777240" y="2315024"/>
            <a:ext cx="3108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Malgun Gothic"/>
              <a:buNone/>
            </a:pPr>
            <a:r>
              <a:rPr b="1" i="0" lang="en-US" sz="5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+0.80</a:t>
            </a:r>
            <a:endParaRPr b="0" i="0" sz="5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777250" y="3412304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값이 같은 시기에 함께 높았다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(+0.8011, p &lt; 0.001)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추세가 겹쳐 p값이 과장된 숫자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4526280" y="1903544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변화값 상관 (71개월)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4526280" y="2315024"/>
            <a:ext cx="3108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Malgun Gothic"/>
              <a:buNone/>
            </a:pPr>
            <a:r>
              <a:rPr b="1" i="0" lang="en-US" sz="5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-0.05</a:t>
            </a:r>
            <a:endParaRPr b="0" i="0" sz="5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4526275" y="3412304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달에 함께 움직인 관계는 거의 없다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(-0.0517, p = 0.67)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95% 신뢰구간 -0.28 ~ +0.18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988115" y="1435608"/>
            <a:ext cx="3637649" cy="2889504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변화값 산점도: SOFR 전월 대비 변화와 환율 로그변화, r = -0.0517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267" y="1508760"/>
            <a:ext cx="3491345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548640" y="4434840"/>
            <a:ext cx="11064240" cy="1481328"/>
          </a:xfrm>
          <a:prstGeom prst="roundRect">
            <a:avLst>
              <a:gd fmla="val 8000" name="adj"/>
            </a:avLst>
          </a:prstGeom>
          <a:solidFill>
            <a:schemeClr val="accent6"/>
          </a:solidFill>
          <a:ln cap="flat" cmpd="sng" w="9525">
            <a:solidFill>
              <a:srgbClr val="E3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822960" y="4462272"/>
            <a:ext cx="10607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지표 정의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 상관 = 매달의 복리 SOFR 값과 월말 환율 값 자체의 상관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변화값 상관 = 전월 대비 SOFR 변화와 같은 달 환율 변화율(로그)의 상관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p값 = 관계가 없는데 우연히 이 정도 상관이 나올 확률 (0.05 미만이면 유의, 원인이라는 뜻은 아님)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수준값은 두 변수 모두 추세가 있어(ADF p 0.36·0.71) p값이 과장된다 → 결론은 변화값으로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robustness.json v1.0, 보고서 v0.4 5절·6절, output/figures/scatter_change.png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0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09 분석 결과 ③ 산점도</a:t>
            </a:r>
            <a:endParaRPr sz="1200"/>
          </a:p>
        </p:txBody>
      </p:sp>
      <p:sp>
        <p:nvSpPr>
          <p:cNvPr id="267" name="Google Shape;267;p11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+0.80은 두 국면의 차이였다: 국면을 고정하면 금리 효과는 0에 가깝다</a:t>
            </a:r>
            <a:endParaRPr sz="2600"/>
          </a:p>
        </p:txBody>
      </p:sp>
      <p:sp>
        <p:nvSpPr>
          <p:cNvPr id="268" name="Google Shape;268;p11"/>
          <p:cNvSpPr/>
          <p:nvPr/>
        </p:nvSpPr>
        <p:spPr>
          <a:xfrm>
            <a:off x="530352" y="1577667"/>
            <a:ext cx="5312664" cy="4205587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수준값 산점도: 저금리·전환기·고금리 세 무리, r = +0.8011" id="269" name="Google Shape;2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1650819"/>
            <a:ext cx="5166360" cy="40592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0" name="Google Shape;270;p11"/>
          <p:cNvGraphicFramePr/>
          <p:nvPr/>
        </p:nvGraphicFramePr>
        <p:xfrm>
          <a:off x="594360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2743200"/>
                <a:gridCol w="1463050"/>
                <a:gridCol w="14630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구분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수준값 상관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변화값 상관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2020.01~2022.12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+0.74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-0.06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2023.01~2025.12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-0.56*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-0.02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저금리 덩어리 내부 (25개월)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+0.45*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고금리 덩어리 내부 (39개월)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-0.40*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1"/>
          <p:cNvSpPr/>
          <p:nvPr/>
        </p:nvSpPr>
        <p:spPr>
          <a:xfrm>
            <a:off x="5943600" y="4434840"/>
            <a:ext cx="5669280" cy="1572768"/>
          </a:xfrm>
          <a:prstGeom prst="roundRect">
            <a:avLst>
              <a:gd fmla="val 75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6126480" y="4480560"/>
            <a:ext cx="539496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인과로 읽지 않는다 (다시 분석한 결과)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국면 착시: 국면을 고정하면 SOFR 계수 -16원 (p = 0.54)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공통 원인: 월별 환율 변화의 56%는 달러지수 변화로 설명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빠진 변수: 한국 금리·VIX는 점검(같음), 무역수지는 미확인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참고값: 추세·다중검정을 고려하면 통계적으로 확실하지 않음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robustness.json v1.0, 보고서 v0.4 5절·6절·8절, output/figures/scatter_level.png (전환기 8개월은 덩어리 내부 상관에서 제외)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1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5" name="Google Shape;265;p11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09 분석 결과 ③ 산점도 읽는 법</a:t>
            </a:r>
            <a:endParaRPr sz="1200"/>
          </a:p>
        </p:txBody>
      </p:sp>
      <p:sp>
        <p:nvSpPr>
          <p:cNvPr id="267" name="Google Shape;267;p11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+0.80은 '직선'이 아니라 '같은 칸에 몰린 정도'를 잰 숫자다</a:t>
            </a:r>
            <a:endParaRPr sz="2600"/>
          </a:p>
        </p:txBody>
      </p:sp>
      <p:sp>
        <p:nvSpPr>
          <p:cNvPr id="268" name="Google Shape;268;p11"/>
          <p:cNvSpPr/>
          <p:nvPr/>
        </p:nvSpPr>
        <p:spPr>
          <a:xfrm>
            <a:off x="530352" y="1577667"/>
            <a:ext cx="5312664" cy="4205587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Quadrant scatter" descr="chart_qu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50819"/>
            <a:ext cx="5166360" cy="4059283"/>
          </a:xfrm>
          <a:prstGeom prst="rect">
            <a:avLst/>
          </a:prstGeom>
        </p:spPr>
      </p:pic>
      <p:graphicFrame>
        <p:nvGraphicFramePr>
          <p:cNvPr id="270" name="Google Shape;270;p11"/>
          <p:cNvGraphicFramePr/>
          <p:nvPr/>
        </p:nvGraphicFramePr>
        <p:xfrm>
          <a:off x="594360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2743200"/>
                <a:gridCol w="1463050"/>
                <a:gridCol w="14630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구분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개월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+0.80 중 몫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① 둘 다 평균 위 (오른쪽 위)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41%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③ 둘 다 평균 아래 (왼쪽 아래)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chemeClr val="dk1"/>
                          </a:solidFill>
                        </a:rPr>
                        <a:t>29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61%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②④ 엇갈린 칸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 b="0">
                          <a:solidFill>
                            <a:schemeClr val="dk1"/>
                          </a:solidFill>
                        </a:rPr>
                        <a:t>7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0"/>
                        <a:t>-2%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합계 (72개월 평균 = r)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72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>
                          <a:highlight>
                            <a:srgbClr val="FFBC00"/>
                          </a:highlight>
                        </a:rPr>
                        <a:t>100% = +0.80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1"/>
          <p:cNvSpPr/>
          <p:nvPr/>
        </p:nvSpPr>
        <p:spPr>
          <a:xfrm>
            <a:off x="5943600" y="4434840"/>
            <a:ext cx="5669280" cy="1463040"/>
          </a:xfrm>
          <a:prstGeom prst="roundRect">
            <a:avLst>
              <a:gd fmla="val 75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6126480" y="448056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산점도에서 0.80을 읽는 법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평균선(환율 1,286원 · SOFR 2.74%)으로 네 칸을 나눈다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둘 다 평균 위·둘 다 평균 아래인 달은 +, 엇갈린 달은 -로 더해 평균 내면 r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72개월 중 65개월이 같은 방향 칸 → 직선이 아니어도 r이 커진다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monthly_analysis.csv 72개월 직접 계산, metrics.json v1.2 | r = 매달 (금리 표준점수 × 환율 표준점수)의 평균 | 전환기 = SOFR 0.5% 이상 3% 미만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1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5" name="Google Shape;265;p11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09 분석 결과 ③ 다시 확인</a:t>
            </a:r>
            <a:endParaRPr sz="1200"/>
          </a:p>
        </p:txBody>
      </p:sp>
      <p:sp>
        <p:nvSpPr>
          <p:cNvPr id="267" name="Google Shape;267;p11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다시 분석해도 결론은 같다: 환율은 금리보다 달러 강세와 움직였다</a:t>
            </a:r>
            <a:endParaRPr sz="2600"/>
          </a:p>
        </p:txBody>
      </p:sp>
      <p:sp>
        <p:nvSpPr>
          <p:cNvPr id="268" name="Google Shape;268;p11"/>
          <p:cNvSpPr/>
          <p:nvPr/>
        </p:nvSpPr>
        <p:spPr>
          <a:xfrm>
            <a:off x="530352" y="1554480"/>
            <a:ext cx="6675120" cy="3090672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0" name="Google Shape;270;p11"/>
          <p:cNvGraphicFramePr/>
          <p:nvPr/>
        </p:nvGraphicFramePr>
        <p:xfrm>
          <a:off x="7296912" y="1554480"/>
          <a:ext cx="4343400" cy="3072384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178308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검증 방법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결과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변화값 상관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r -0.05 · p 0.67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순위상관 · 2020-03 제외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150" u="none" cap="none" strike="noStrike">
                          <a:solidFill>
                            <a:schemeClr val="dk1"/>
                          </a:solidFill>
                        </a:rPr>
                        <a:t>-0.01 · -0.06 (같음)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한국 금리 · VIX 통제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SOFR 변화 계수 p 0.64 (같음)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금리 국면 고정 (수준값)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  <a:highlight>
                            <a:srgbClr val="FFBC00"/>
                          </a:highlight>
                        </a:rPr>
                        <a:t>SOFR 1%p당 -16원 · p 0.54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검정 31개 BH 보정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유의 11개 → 8개, 결론 숫자 유지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기여도 분해 방식 3가지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150" u="none" cap="none" strike="noStrike" b="0">
                          <a:solidFill>
                            <a:schemeClr val="dk1"/>
                          </a:solidFill>
                        </a:rPr>
                        <a:t>금리 몫 71.8% ~ 72.4%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1"/>
          <p:cNvSpPr/>
          <p:nvPr/>
        </p:nvSpPr>
        <p:spPr>
          <a:xfrm>
            <a:off x="548640" y="4773168"/>
            <a:ext cx="11064240" cy="1143000"/>
          </a:xfrm>
          <a:prstGeom prst="roundRect">
            <a:avLst>
              <a:gd fmla="val 75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777240" y="4818888"/>
            <a:ext cx="10698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참고로만 쓰는 숫자 (통계적으로 확실하지 않음)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2023~2025 수준값 -0.56: 자기상관을 살린 블록 부트스트랩 95% 구간 -0.83 ~ +0.21 (0 포함)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저금리 덩어리 내부 +0.45: 검정 31개 BH 보정 후 q = 0.08 (유의하지 않음)  |  환율 우세 44/71개월: 이항검정 p = 0.057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output/robustness.json v1.0 (source/robustness_check.py), FRED DTWEXBGS·VIXCLS·IR3TIB01KRM156N, figures/robustness/change_drivers.png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1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5" name="Change drivers" descr="chang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27632"/>
            <a:ext cx="6528816" cy="28602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12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10 분석 결과 ④ 기여도</a:t>
            </a:r>
            <a:endParaRPr sz="1200"/>
          </a:p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이자는 352만원 → 700만원, 늘어난 348만원 중 72%가 금리</a:t>
            </a:r>
            <a:endParaRPr sz="2600"/>
          </a:p>
        </p:txBody>
      </p:sp>
      <p:sp>
        <p:nvSpPr>
          <p:cNvPr id="3001" name="Chart Card"/>
          <p:cNvSpPr/>
          <p:nvPr/>
        </p:nvSpPr>
        <p:spPr>
          <a:xfrm>
            <a:off x="548640" y="1554480"/>
            <a:ext cx="6766560" cy="4297680"/>
          </a:xfrm>
          <a:prstGeom prst="roundRect">
            <a:avLst>
              <a:gd fmla="val 3500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3002" name="Chart Image (구간별 기여)" descr="chart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9344"/>
            <a:ext cx="6583680" cy="4181526"/>
          </a:xfrm>
          <a:prstGeom prst="rect">
            <a:avLst/>
          </a:prstGeom>
        </p:spPr>
      </p:pic>
      <p:sp>
        <p:nvSpPr>
          <p:cNvPr id="284" name="Google Shape;284;p12"/>
          <p:cNvSpPr/>
          <p:nvPr/>
        </p:nvSpPr>
        <p:spPr>
          <a:xfrm>
            <a:off x="7589520" y="1554480"/>
            <a:ext cx="4023360" cy="2103120"/>
          </a:xfrm>
          <a:prstGeom prst="roundRect">
            <a:avLst>
              <a:gd fmla="val 5217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7795195" y="1851590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기간 금리 기여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7795195" y="2217350"/>
            <a:ext cx="361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+251만원 (72.1%)</a:t>
            </a:r>
            <a:endParaRPr b="0" i="0" sz="2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7795195" y="2948870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 기여 +97만원 (27.9%)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589520" y="3840480"/>
            <a:ext cx="4023360" cy="2011680"/>
          </a:xfrm>
          <a:prstGeom prst="roundRect">
            <a:avLst>
              <a:gd fmla="val 5455" name="adj"/>
            </a:avLst>
          </a:prstGeom>
          <a:solidFill>
            <a:schemeClr val="accent6"/>
          </a:solidFill>
          <a:ln cap="flat" cmpd="sng" w="9525">
            <a:solidFill>
              <a:srgbClr val="E3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7818120" y="3931920"/>
            <a:ext cx="3611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큰 변화는 인상기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인상기 이자 +549만원 중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 기여가 +555만원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algun Gothic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구간 합계는 반올림으로 전체와 1만원 차이가 날 수 있음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robustness.json v1.0, 보고서 v0.4 7절 (가상 차주 표준 30일 원화 이자 기준)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12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Robustness note"/>
          <p:cNvSpPr txBox="1"/>
          <p:nvPr/>
        </p:nvSpPr>
        <p:spPr>
          <a:xfrm>
            <a:off x="7790688" y="332841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분해 방식을 바꿔도 72%, 시작 달을 바꾸면 72%~81%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3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11 분석 결과 ⑤ 월별 기여</a:t>
            </a:r>
            <a:endParaRPr sz="1200"/>
          </a:p>
        </p:txBody>
      </p:sp>
      <p:sp>
        <p:nvSpPr>
          <p:cNvPr id="299" name="Google Shape;299;p13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환율은 더 자주(44개월), 금리는 더 크게(972만원) 흔들었다</a:t>
            </a:r>
            <a:endParaRPr sz="2600"/>
          </a:p>
        </p:txBody>
      </p:sp>
      <p:sp>
        <p:nvSpPr>
          <p:cNvPr id="300" name="Google Shape;300;p13"/>
          <p:cNvSpPr/>
          <p:nvPr/>
        </p:nvSpPr>
        <p:spPr>
          <a:xfrm>
            <a:off x="530352" y="1842516"/>
            <a:ext cx="6912864" cy="2852928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월별 표준 30일 원화 이자 변화와 금리·환율 기여도" id="301" name="Google Shape;3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1915668"/>
            <a:ext cx="6766560" cy="2706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2" name="Google Shape;302;p13"/>
          <p:cNvGraphicFramePr/>
          <p:nvPr/>
        </p:nvGraphicFramePr>
        <p:xfrm>
          <a:off x="758952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{9C21CF16-FFCF-41A3-9AF7-054866C5E894}</a:tableStyleId>
              </a:tblPr>
              <a:tblGrid>
                <a:gridCol w="173735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71개월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환율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algun Gothic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금리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우세 월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accent1"/>
                          </a:solidFill>
                        </a:rPr>
                        <a:t>44개월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27개월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한 달 기여 중앙값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5.6만원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2.7만원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기여 절댓값 합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800만원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accent1"/>
                          </a:solidFill>
                        </a:rPr>
                        <a:t>972만원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p13"/>
          <p:cNvSpPr/>
          <p:nvPr/>
        </p:nvSpPr>
        <p:spPr>
          <a:xfrm>
            <a:off x="7589520" y="3520440"/>
            <a:ext cx="4023360" cy="1463040"/>
          </a:xfrm>
          <a:prstGeom prst="roundRect">
            <a:avLst>
              <a:gd fmla="val 7500" name="adj"/>
            </a:avLst>
          </a:prstGeom>
          <a:solidFill>
            <a:schemeClr val="accent6"/>
          </a:solidFill>
          <a:ln cap="flat" cmpd="sng" w="9525">
            <a:solidFill>
              <a:srgbClr val="E3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7772400" y="3566160"/>
            <a:ext cx="3703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숫자가 엇갈리나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금리는 연준이 크게 움직인 몇 달에 몰렸다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(상위 10개월이 합의 61%)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환율은 평범한 달에도 매달 조금씩 흔들었다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48640" y="5166360"/>
            <a:ext cx="11064240" cy="731520"/>
          </a:xfrm>
          <a:prstGeom prst="roundRect">
            <a:avLst>
              <a:gd fmla="val 15000" name="adj"/>
            </a:avLst>
          </a:prstGeom>
          <a:solidFill>
            <a:schemeClr val="lt2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  우세 월 = 그 달 두 기여의 절댓값 중 큰 쪽  |  절댓값 합 = 오르내림을 모두 더한 흔들림의 크기 (누적 비용 아님)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44개월 대 27개월은 50:50과 통계적으로 구분되지 않는다 (이항검정 p = 0.057): '더 자주'는 개수로만 읽는다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robustness.json v1.0, 보고서 v0.4 7절, output/figures/contribution.png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13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 rot="840000">
            <a:off x="9509760" y="-1097280"/>
            <a:ext cx="4206240" cy="8778240"/>
          </a:xfrm>
          <a:prstGeom prst="roundRect">
            <a:avLst>
              <a:gd fmla="val 13043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49640" y="5074920"/>
            <a:ext cx="1371600" cy="137160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-548640" y="-640080"/>
            <a:ext cx="1463040" cy="14630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cap="flat" cmpd="sng" w="12700">
            <a:solidFill>
              <a:schemeClr val="accent2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31520" y="1234440"/>
            <a:ext cx="822960" cy="8229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5" name="New 1055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PART 5 / 5</a:t>
            </a:r>
          </a:p>
        </p:txBody>
      </p:sp>
      <p:sp>
        <p:nvSpPr>
          <p:cNvPr id="1056" name="New 1056"/>
          <p:cNvSpPr txBox="1"/>
          <p:nvPr/>
        </p:nvSpPr>
        <p:spPr>
          <a:xfrm>
            <a:off x="731520" y="146304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4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  <p:sp>
        <p:nvSpPr>
          <p:cNvPr id="1057" name="New 1057"/>
          <p:cNvSpPr txBox="1"/>
          <p:nvPr/>
        </p:nvSpPr>
        <p:spPr>
          <a:xfrm>
            <a:off x="731520" y="2468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2000" b="0">
                <a:solidFill>
                  <a:schemeClr val="accent2"/>
                </a:solidFill>
                <a:latin typeface="Malgun Gothic"/>
                <a:ea typeface="Malgun Gothic"/>
                <a:cs typeface="Malgun Gothic"/>
              </a:rPr>
              <a:t>이 결과를 은행 상담에 어떻게 쓰나</a:t>
            </a:r>
          </a:p>
        </p:txBody>
      </p:sp>
      <p:sp>
        <p:nvSpPr>
          <p:cNvPr id="1058" name="New 1058"/>
          <p:cNvSpPr txBox="1"/>
          <p:nvPr/>
        </p:nvSpPr>
        <p:spPr>
          <a:xfrm>
            <a:off x="731520" y="32461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12  인사이트   13  앱 시연   14  결론 · 한계</a:t>
            </a:r>
          </a:p>
        </p:txBody>
      </p:sp>
      <p:sp>
        <p:nvSpPr>
          <p:cNvPr id="1059" name="New 1059"/>
          <p:cNvSpPr/>
          <p:nvPr/>
        </p:nvSpPr>
        <p:spPr>
          <a:xfrm>
            <a:off x="731520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1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060" name="New 1060"/>
          <p:cNvSpPr/>
          <p:nvPr/>
        </p:nvSpPr>
        <p:spPr>
          <a:xfrm>
            <a:off x="2359152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2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주제 선정</a:t>
            </a:r>
          </a:p>
        </p:txBody>
      </p:sp>
      <p:sp>
        <p:nvSpPr>
          <p:cNvPr id="1061" name="New 1061"/>
          <p:cNvSpPr/>
          <p:nvPr/>
        </p:nvSpPr>
        <p:spPr>
          <a:xfrm>
            <a:off x="3986784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3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데이터와 방법</a:t>
            </a:r>
          </a:p>
        </p:txBody>
      </p:sp>
      <p:sp>
        <p:nvSpPr>
          <p:cNvPr id="1062" name="New 1062"/>
          <p:cNvSpPr/>
          <p:nvPr/>
        </p:nvSpPr>
        <p:spPr>
          <a:xfrm>
            <a:off x="5614416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rgbClr val="3A404C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PART 4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rPr>
              <a:t>분석 결과</a:t>
            </a:r>
          </a:p>
        </p:txBody>
      </p:sp>
      <p:sp>
        <p:nvSpPr>
          <p:cNvPr id="1063" name="New 1063"/>
          <p:cNvSpPr/>
          <p:nvPr/>
        </p:nvSpPr>
        <p:spPr>
          <a:xfrm>
            <a:off x="7242048" y="3931920"/>
            <a:ext cx="1536192" cy="566928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ko-KR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PART 5</a:t>
            </a:r>
          </a:p>
          <a:p>
            <a:pPr algn="ct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인사이트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14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12 인사이트 · 제안</a:t>
            </a:r>
            <a:endParaRPr sz="1200"/>
          </a:p>
        </p:txBody>
      </p:sp>
      <p:sp>
        <p:nvSpPr>
          <p:cNvPr id="316" name="Google Shape;316;p14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RM 상담: 원인별로 설명하고 두 위험을 따로 점검한다</a:t>
            </a:r>
            <a:endParaRPr sz="2600"/>
          </a:p>
        </p:txBody>
      </p:sp>
      <p:sp>
        <p:nvSpPr>
          <p:cNvPr id="329" name="Google Shape;329;p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보고서 v0.4 7절·9절 (가상 차주 기준)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14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1" name="Card 2001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02" name="New 2002"/>
          <p:cNvSpPr/>
          <p:nvPr/>
        </p:nvSpPr>
        <p:spPr>
          <a:xfrm>
            <a:off x="5257800" y="171907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pic>
        <p:nvPicPr>
          <p:cNvPr id="2003" name="Icon 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372100" y="1833372"/>
            <a:ext cx="228600" cy="228600"/>
          </a:xfrm>
          <a:prstGeom prst="rect">
            <a:avLst/>
          </a:prstGeom>
        </p:spPr>
      </p:pic>
      <p:sp>
        <p:nvSpPr>
          <p:cNvPr id="2004" name="New 2004"/>
          <p:cNvSpPr txBox="1"/>
          <p:nvPr/>
        </p:nvSpPr>
        <p:spPr>
          <a:xfrm>
            <a:off x="777240" y="1755648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① 이자가 늘어난 원인을 나눠 설명</a:t>
            </a:r>
          </a:p>
        </p:txBody>
      </p:sp>
      <p:sp>
        <p:nvSpPr>
          <p:cNvPr id="2005" name="New 2005"/>
          <p:cNvSpPr txBox="1"/>
          <p:nvPr/>
        </p:nvSpPr>
        <p:spPr>
          <a:xfrm>
            <a:off x="777240" y="20848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5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상담 예시 · 2022.11</a:t>
            </a:r>
          </a:p>
        </p:txBody>
      </p:sp>
      <p:sp>
        <p:nvSpPr>
          <p:cNvPr id="2006" name="New 2006"/>
          <p:cNvSpPr txBox="1"/>
          <p:nvPr/>
        </p:nvSpPr>
        <p:spPr>
          <a:xfrm>
            <a:off x="777240" y="2450592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"이번 달 원화 이자가 30만원 늘었습니다.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SOFR 상승으로 </a:t>
            </a: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79만원 늘었지만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원화 강세로 </a:t>
            </a: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48만원 줄어</a:t>
            </a: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일부 상쇄되었습니다."</a:t>
            </a:r>
          </a:p>
        </p:txBody>
      </p:sp>
      <p:sp>
        <p:nvSpPr>
          <p:cNvPr id="2007" name="Card 2007"/>
          <p:cNvSpPr/>
          <p:nvPr/>
        </p:nvSpPr>
        <p:spPr>
          <a:xfrm>
            <a:off x="6217920" y="1554480"/>
            <a:ext cx="5394960" cy="20574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08" name="New 2008"/>
          <p:cNvSpPr/>
          <p:nvPr/>
        </p:nvSpPr>
        <p:spPr>
          <a:xfrm>
            <a:off x="10927080" y="171907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pic>
        <p:nvPicPr>
          <p:cNvPr id="2009" name="Icon 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041380" y="1833372"/>
            <a:ext cx="228600" cy="228600"/>
          </a:xfrm>
          <a:prstGeom prst="rect">
            <a:avLst/>
          </a:prstGeom>
        </p:spPr>
      </p:pic>
      <p:sp>
        <p:nvSpPr>
          <p:cNvPr id="2010" name="New 2010"/>
          <p:cNvSpPr txBox="1"/>
          <p:nvPr/>
        </p:nvSpPr>
        <p:spPr>
          <a:xfrm>
            <a:off x="6446520" y="1755648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② 금리가 내릴 때도 환율 위험 안내</a:t>
            </a:r>
          </a:p>
        </p:txBody>
      </p:sp>
      <p:sp>
        <p:nvSpPr>
          <p:cNvPr id="2011" name="New 2011"/>
          <p:cNvSpPr txBox="1"/>
          <p:nvPr/>
        </p:nvSpPr>
        <p:spPr>
          <a:xfrm>
            <a:off x="6446520" y="20848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5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금리 인하기 · 2024.09 ~ 2025.12</a:t>
            </a:r>
          </a:p>
        </p:txBody>
      </p:sp>
      <p:sp>
        <p:nvSpPr>
          <p:cNvPr id="2012" name="New 2012"/>
          <p:cNvSpPr txBox="1"/>
          <p:nvPr/>
        </p:nvSpPr>
        <p:spPr>
          <a:xfrm>
            <a:off x="6446520" y="2450592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금리 하락 -179만원, 원화 약세 +61만원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lang="ko-KR" sz="1400" b="1">
                <a:solidFill>
                  <a:schemeClr val="dk1"/>
                </a:solidFill>
                <a:highlight>
                  <a:srgbClr val="FFBC00"/>
                </a:highlight>
                <a:latin typeface="Malgun Gothic"/>
                <a:ea typeface="Malgun Gothic"/>
                <a:cs typeface="Malgun Gothic"/>
              </a:rPr>
              <a:t>→ 인하 효과의 34%가 환율로 상쇄</a:t>
            </a:r>
          </a:p>
        </p:txBody>
      </p:sp>
      <p:sp>
        <p:nvSpPr>
          <p:cNvPr id="2013" name="Card 2013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14" name="New 2014"/>
          <p:cNvSpPr/>
          <p:nvPr/>
        </p:nvSpPr>
        <p:spPr>
          <a:xfrm>
            <a:off x="5257800" y="395935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pic>
        <p:nvPicPr>
          <p:cNvPr id="2015" name="Icon 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372100" y="4073652"/>
            <a:ext cx="228600" cy="228600"/>
          </a:xfrm>
          <a:prstGeom prst="rect">
            <a:avLst/>
          </a:prstGeom>
        </p:spPr>
      </p:pic>
      <p:sp>
        <p:nvSpPr>
          <p:cNvPr id="2016" name="New 2016"/>
          <p:cNvSpPr txBox="1"/>
          <p:nvPr/>
        </p:nvSpPr>
        <p:spPr>
          <a:xfrm>
            <a:off x="777240" y="3995928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③ 앞으로 늘 이자를 미리 안내</a:t>
            </a:r>
          </a:p>
        </p:txBody>
      </p:sp>
      <p:sp>
        <p:nvSpPr>
          <p:cNvPr id="2017" name="New 2017"/>
          <p:cNvSpPr txBox="1"/>
          <p:nvPr/>
        </p:nvSpPr>
        <p:spPr>
          <a:xfrm>
            <a:off x="777240" y="432511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5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민감도 · 2025.12 기준, 월 이자 700만원</a:t>
            </a:r>
          </a:p>
        </p:txBody>
      </p:sp>
      <p:sp>
        <p:nvSpPr>
          <p:cNvPr id="2018" name="New 2018"/>
          <p:cNvSpPr/>
          <p:nvPr/>
        </p:nvSpPr>
        <p:spPr>
          <a:xfrm>
            <a:off x="777240" y="4690872"/>
            <a:ext cx="4937760" cy="301752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019" name="New 2019"/>
          <p:cNvSpPr txBox="1"/>
          <p:nvPr/>
        </p:nvSpPr>
        <p:spPr>
          <a:xfrm>
            <a:off x="914400" y="4690872"/>
            <a:ext cx="2468880.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SOFR +1%p</a:t>
            </a:r>
          </a:p>
        </p:txBody>
      </p:sp>
      <p:sp>
        <p:nvSpPr>
          <p:cNvPr id="2020" name="New 2020"/>
          <p:cNvSpPr txBox="1"/>
          <p:nvPr/>
        </p:nvSpPr>
        <p:spPr>
          <a:xfrm>
            <a:off x="3246120" y="4690872"/>
            <a:ext cx="2331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+120만원</a:t>
            </a:r>
          </a:p>
        </p:txBody>
      </p:sp>
      <p:sp>
        <p:nvSpPr>
          <p:cNvPr id="2021" name="New 2021"/>
          <p:cNvSpPr/>
          <p:nvPr/>
        </p:nvSpPr>
        <p:spPr>
          <a:xfrm>
            <a:off x="777240" y="5029200"/>
            <a:ext cx="4937760" cy="301752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022" name="New 2022"/>
          <p:cNvSpPr txBox="1"/>
          <p:nvPr/>
        </p:nvSpPr>
        <p:spPr>
          <a:xfrm>
            <a:off x="914400" y="5029200"/>
            <a:ext cx="2468880.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원/달러 +10%</a:t>
            </a:r>
          </a:p>
        </p:txBody>
      </p:sp>
      <p:sp>
        <p:nvSpPr>
          <p:cNvPr id="2023" name="New 2023"/>
          <p:cNvSpPr txBox="1"/>
          <p:nvPr/>
        </p:nvSpPr>
        <p:spPr>
          <a:xfrm>
            <a:off x="3246120" y="5029200"/>
            <a:ext cx="2331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+70만원</a:t>
            </a:r>
          </a:p>
        </p:txBody>
      </p:sp>
      <p:sp>
        <p:nvSpPr>
          <p:cNvPr id="2024" name="New 2024"/>
          <p:cNvSpPr/>
          <p:nvPr/>
        </p:nvSpPr>
        <p:spPr>
          <a:xfrm>
            <a:off x="777240" y="5367528"/>
            <a:ext cx="4937760" cy="301752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025" name="New 2025"/>
          <p:cNvSpPr txBox="1"/>
          <p:nvPr/>
        </p:nvSpPr>
        <p:spPr>
          <a:xfrm>
            <a:off x="914400" y="5367528"/>
            <a:ext cx="2468880.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충격 동시</a:t>
            </a:r>
          </a:p>
        </p:txBody>
      </p:sp>
      <p:sp>
        <p:nvSpPr>
          <p:cNvPr id="2026" name="New 2026"/>
          <p:cNvSpPr txBox="1"/>
          <p:nvPr/>
        </p:nvSpPr>
        <p:spPr>
          <a:xfrm>
            <a:off x="3246120" y="5367528"/>
            <a:ext cx="2331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+202만원</a:t>
            </a:r>
          </a:p>
        </p:txBody>
      </p:sp>
      <p:sp>
        <p:nvSpPr>
          <p:cNvPr id="2027" name="Card 2027"/>
          <p:cNvSpPr/>
          <p:nvPr/>
        </p:nvSpPr>
        <p:spPr>
          <a:xfrm>
            <a:off x="6217920" y="3794760"/>
            <a:ext cx="5394960" cy="205740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2028" name="New 2028"/>
          <p:cNvSpPr/>
          <p:nvPr/>
        </p:nvSpPr>
        <p:spPr>
          <a:xfrm>
            <a:off x="10927080" y="395935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pic>
        <p:nvPicPr>
          <p:cNvPr id="2029" name="Icon 4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1041380" y="4073652"/>
            <a:ext cx="228600" cy="228600"/>
          </a:xfrm>
          <a:prstGeom prst="rect">
            <a:avLst/>
          </a:prstGeom>
        </p:spPr>
      </p:pic>
      <p:sp>
        <p:nvSpPr>
          <p:cNvPr id="2030" name="New 2030"/>
          <p:cNvSpPr txBox="1"/>
          <p:nvPr/>
        </p:nvSpPr>
        <p:spPr>
          <a:xfrm>
            <a:off x="6446520" y="3995928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④ 원인에 맞는 대비책 점검</a:t>
            </a:r>
          </a:p>
        </p:txBody>
      </p:sp>
      <p:sp>
        <p:nvSpPr>
          <p:cNvPr id="2031" name="New 2031"/>
          <p:cNvSpPr txBox="1"/>
          <p:nvPr/>
        </p:nvSpPr>
        <p:spPr>
          <a:xfrm>
            <a:off x="6446520" y="432511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50" b="1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상품 권유가 아닌 상담 시 점검 항목</a:t>
            </a:r>
          </a:p>
        </p:txBody>
      </p:sp>
      <p:sp>
        <p:nvSpPr>
          <p:cNvPr id="2032" name="New 2032"/>
          <p:cNvSpPr txBox="1"/>
          <p:nvPr/>
        </p:nvSpPr>
        <p:spPr>
          <a:xfrm>
            <a:off x="6446520" y="4690872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금리 부담이 클 때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IRS(금리스왑)로 고정금리화, 금리상한(Cap)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환율 부담이 클 때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원화대출 전환, CRS(통화스왑)·선물환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5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13 앱 시연</a:t>
            </a:r>
            <a:endParaRPr sz="1200"/>
          </a:p>
        </p:txBody>
      </p:sp>
      <p:sp>
        <p:nvSpPr>
          <p:cNvPr id="338" name="Google Shape;338;p15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Streamlit: 기간을 바꾸면 상관계수와 기여도가 다시 계산된다</a:t>
            </a:r>
            <a:endParaRPr sz="2600"/>
          </a:p>
        </p:txBody>
      </p:sp>
      <p:sp>
        <p:nvSpPr>
          <p:cNvPr id="339" name="Google Shape;339;p15"/>
          <p:cNvSpPr/>
          <p:nvPr/>
        </p:nvSpPr>
        <p:spPr>
          <a:xfrm>
            <a:off x="548650" y="1691650"/>
            <a:ext cx="6804000" cy="4160400"/>
          </a:xfrm>
          <a:prstGeom prst="roundRect">
            <a:avLst>
              <a:gd fmla="val 2057" name="adj"/>
            </a:avLst>
          </a:prstGeom>
          <a:solidFill>
            <a:srgbClr val="FFFFFF"/>
          </a:solidFill>
          <a:ln cap="flat" cmpd="sng" w="10200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8691" rotWithShape="0" algn="bl" dir="5400000" dist="27173">
              <a:srgbClr val="252A34">
                <a:alpha val="7843"/>
              </a:srgbClr>
            </a:outerShdw>
          </a:effectLst>
        </p:spPr>
        <p:txBody>
          <a:bodyPr anchorCtr="0" anchor="ctr" bIns="97800" lIns="97800" spcFirstLastPara="1" rIns="97800" wrap="square" tIns="9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2조 Streamlit 앱 화면: 분석 조건, 상관계수 카드, 시계열 그래프" id="340" name="Google Shape;3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615" y="1777250"/>
            <a:ext cx="6658033" cy="398920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/>
          <p:nvPr/>
        </p:nvSpPr>
        <p:spPr>
          <a:xfrm>
            <a:off x="7589520" y="169164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758952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8321040" y="15544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 선택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시작·종료월, 가상 원금, 가산금리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589520" y="288036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7589520" y="2880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8321040" y="27432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상관분석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수준값/변화값 전환 → 상관계수 카드·산점도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p값·95% 신뢰구간 함께 표시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7589520" y="4069080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7589520" y="4069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8321040" y="39319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상담용 결과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30일 이자, 두 기여, 기여 큰 달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7589520" y="5029200"/>
            <a:ext cx="4023360" cy="822960"/>
          </a:xfrm>
          <a:prstGeom prst="roundRect">
            <a:avLst>
              <a:gd fmla="val 13333" name="adj"/>
            </a:avLst>
          </a:prstGeom>
          <a:solidFill>
            <a:schemeClr val="accent5"/>
          </a:solidFill>
          <a:ln cap="flat" cmpd="sng" w="9525">
            <a:solidFill>
              <a:srgbClr val="E8EB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7772400" y="502920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포인트 (앱 확인 완료)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2023~2025 선택 → 수준값 -0.56, 변화값 -0.02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2조 Streamlit 앱 (app/app.py), output/streamlit_screen.png, metrics.json v1.2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15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/>
          <p:nvPr/>
        </p:nvSpPr>
        <p:spPr>
          <a:xfrm rot="840000">
            <a:off x="10607040" y="-1463040"/>
            <a:ext cx="2377440" cy="2743200"/>
          </a:xfrm>
          <a:prstGeom prst="roundRect">
            <a:avLst>
              <a:gd fmla="val 19231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10241280" y="1143000"/>
            <a:ext cx="640080" cy="64008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 txBox="1"/>
          <p:nvPr/>
        </p:nvSpPr>
        <p:spPr>
          <a:xfrm>
            <a:off x="548640" y="2743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14 결론 · 한계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548640" y="5943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변수로 다른 위험을 대신 판단할 수 없다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548640" y="1609344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 txBox="1"/>
          <p:nvPr/>
        </p:nvSpPr>
        <p:spPr>
          <a:xfrm>
            <a:off x="548640" y="1609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1188720" y="15544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 상관 +0.80은 두 국면의 차이였고, 월별 변화 상관은 -0.05(p = 0.67)로 거의 없었다.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548640" y="2340864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548640" y="2340864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1188720" y="2286000"/>
            <a:ext cx="10424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달러대출 이자는 348만원 늘었고 72%가 금리, 28%가 환율 기여였다.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48640" y="3072384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548640" y="30723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1188720" y="301752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RM은 이자 변화를 원인별로 설명하고 금리·환율 위험을 각각 점검해야 한다.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48640" y="3794760"/>
            <a:ext cx="8412480" cy="1828800"/>
          </a:xfrm>
          <a:prstGeom prst="roundRect">
            <a:avLst>
              <a:gd fmla="val 6000" name="adj"/>
            </a:avLst>
          </a:prstGeom>
          <a:solidFill>
            <a:srgbClr val="2F3542"/>
          </a:solidFill>
          <a:ln cap="flat" cmpd="sng" w="9525">
            <a:solidFill>
              <a:srgbClr val="3A41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 txBox="1"/>
          <p:nvPr/>
        </p:nvSpPr>
        <p:spPr>
          <a:xfrm>
            <a:off x="731588" y="4138550"/>
            <a:ext cx="80466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해석의 한계</a:t>
            </a:r>
            <a:endParaRPr b="1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대출: 실제 청구액·손익·신용위험이 아님  |  무역수지·외국인 자금 등 다른 변수 미통제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DEXKOUS는 뉴욕 정오 환율  |  월말 한 시점, 고정 가산금리, 헤지 미반영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수준값 상관은 추세가 겹쳐 p값이 과장됨(공적분 없음)  |  표본 71~72개월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9535325" y="3977600"/>
            <a:ext cx="171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Malgun Gothic"/>
              <a:buNone/>
            </a:pPr>
            <a:r>
              <a:rPr b="1" lang="en-US" sz="5400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5400" u="none" cap="none" strike="noStrike">
                <a:solidFill>
                  <a:schemeClr val="accent2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b="0" i="0" sz="5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metrics.json v1.2, robustness.json v1.0, 보고서 v0.4 10절·11절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16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4" name="Google Shape;314;p14"/>
          <p:cNvSpPr txBox="1"/>
          <p:nvPr/>
        </p:nvSpPr>
        <p:spPr>
          <a:xfrm>
            <a:off x="9418320" y="182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5EA"/>
              </a:buClr>
              <a:buSzPts val="4400"/>
              <a:buFont typeface="Malgun Gothic"/>
              <a:buNone/>
            </a:pPr>
            <a:r>
              <a:rPr b="1" i="0" lang="en-US" sz="4400" u="none" cap="none" strike="noStrike">
                <a:solidFill>
                  <a:srgbClr val="E2E5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 b="0" i="0" sz="4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14"/>
          <p:cNvSpPr txBox="1"/>
          <p:nvPr>
            <p:ph idx="1" type="body"/>
          </p:nvPr>
        </p:nvSpPr>
        <p:spPr>
          <a:xfrm>
            <a:off x="749808" y="182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</a:pPr>
            <a:r>
              <a:rPr b="1" lang="en-US" sz="1200">
                <a:solidFill>
                  <a:schemeClr val="dk2"/>
                </a:solidFill>
              </a:rPr>
              <a:t>부록 · 헤지 시나리오 분석</a:t>
            </a:r>
            <a:endParaRPr sz="1200"/>
          </a:p>
        </p:txBody>
      </p:sp>
      <p:sp>
        <p:nvSpPr>
          <p:cNvPr id="316" name="Google Shape;316;p14"/>
          <p:cNvSpPr txBox="1"/>
          <p:nvPr>
            <p:ph type="title"/>
          </p:nvPr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chemeClr val="dk1"/>
                </a:solidFill>
              </a:rPr>
              <a:t>금리만 고정했어도 늘어난 이자 348만원 중 274만원을 막을 수 있었다</a:t>
            </a:r>
            <a:endParaRPr sz="2600"/>
          </a:p>
        </p:txBody>
      </p:sp>
      <p:sp>
        <p:nvSpPr>
          <p:cNvPr id="329" name="Google Shape;329;p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source/hedge_scenario.py (가상 차주: 원금 100만 달러, 가산금리 2%p, 표준 30일 이자) · 조진영 추가 분석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14"/>
          <p:cNvSpPr txBox="1"/>
          <p:nvPr>
            <p:ph idx="4294967295" type="sldNum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" name="Card 3001"/>
          <p:cNvSpPr/>
          <p:nvPr/>
        </p:nvSpPr>
        <p:spPr>
          <a:xfrm>
            <a:off x="548640" y="1554480"/>
            <a:ext cx="6583680" cy="374904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002" name="Text 3002"/>
          <p:cNvSpPr txBox="1"/>
          <p:nvPr/>
        </p:nvSpPr>
        <p:spPr>
          <a:xfrm>
            <a:off x="777240" y="1755648"/>
            <a:ext cx="6126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헤지 방법별 2025.12 월 이자 비교</a:t>
            </a:r>
          </a:p>
        </p:txBody>
      </p:sp>
      <p:sp>
        <p:nvSpPr>
          <p:cNvPr id="3003" name="Text 3003"/>
          <p:cNvSpPr txBox="1"/>
          <p:nvPr/>
        </p:nvSpPr>
        <p:spPr>
          <a:xfrm>
            <a:off x="777240" y="2084832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5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기준 2020.01 월 이자 352만원 · SOFR 1.55% · 원/달러 1,191원</a:t>
            </a:r>
          </a:p>
        </p:txBody>
      </p:sp>
      <p:sp>
        <p:nvSpPr>
          <p:cNvPr id="3004" name="Text 3004"/>
          <p:cNvSpPr txBox="1"/>
          <p:nvPr/>
        </p:nvSpPr>
        <p:spPr>
          <a:xfrm>
            <a:off x="914400" y="2514600"/>
            <a:ext cx="17373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시나리오</a:t>
            </a:r>
          </a:p>
        </p:txBody>
      </p:sp>
      <p:sp>
        <p:nvSpPr>
          <p:cNvPr id="3005" name="Text 3005"/>
          <p:cNvSpPr txBox="1"/>
          <p:nvPr/>
        </p:nvSpPr>
        <p:spPr>
          <a:xfrm>
            <a:off x="2514600" y="2514600"/>
            <a:ext cx="118872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월 이자</a:t>
            </a:r>
          </a:p>
        </p:txBody>
      </p:sp>
      <p:sp>
        <p:nvSpPr>
          <p:cNvPr id="3006" name="Text 3006"/>
          <p:cNvSpPr txBox="1"/>
          <p:nvPr/>
        </p:nvSpPr>
        <p:spPr>
          <a:xfrm>
            <a:off x="3703320" y="2514600"/>
            <a:ext cx="12801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늘어난 이자</a:t>
            </a:r>
          </a:p>
        </p:txBody>
      </p:sp>
      <p:sp>
        <p:nvSpPr>
          <p:cNvPr id="3007" name="Text 3007"/>
          <p:cNvSpPr txBox="1"/>
          <p:nvPr/>
        </p:nvSpPr>
        <p:spPr>
          <a:xfrm>
            <a:off x="4983480" y="2514600"/>
            <a:ext cx="192024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100" b="1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줄인 금액</a:t>
            </a:r>
          </a:p>
        </p:txBody>
      </p:sp>
      <p:sp>
        <p:nvSpPr>
          <p:cNvPr id="3008" name="Row 3008"/>
          <p:cNvSpPr/>
          <p:nvPr/>
        </p:nvSpPr>
        <p:spPr>
          <a:xfrm>
            <a:off x="777240" y="2935224"/>
            <a:ext cx="6126480" cy="374904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9" name="Text 3009"/>
          <p:cNvSpPr txBox="1"/>
          <p:nvPr/>
        </p:nvSpPr>
        <p:spPr>
          <a:xfrm>
            <a:off x="914400" y="2935224"/>
            <a:ext cx="17373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헤지 없음</a:t>
            </a:r>
          </a:p>
        </p:txBody>
      </p:sp>
      <p:sp>
        <p:nvSpPr>
          <p:cNvPr id="3010" name="Text 3010"/>
          <p:cNvSpPr txBox="1"/>
          <p:nvPr/>
        </p:nvSpPr>
        <p:spPr>
          <a:xfrm>
            <a:off x="2514600" y="2935224"/>
            <a:ext cx="118872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700만원</a:t>
            </a:r>
          </a:p>
        </p:txBody>
      </p:sp>
      <p:sp>
        <p:nvSpPr>
          <p:cNvPr id="3011" name="Text 3011"/>
          <p:cNvSpPr txBox="1"/>
          <p:nvPr/>
        </p:nvSpPr>
        <p:spPr>
          <a:xfrm>
            <a:off x="3703320" y="2935224"/>
            <a:ext cx="12801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+348만원</a:t>
            </a:r>
          </a:p>
        </p:txBody>
      </p:sp>
      <p:sp>
        <p:nvSpPr>
          <p:cNvPr id="3012" name="Text 3012"/>
          <p:cNvSpPr txBox="1"/>
          <p:nvPr/>
        </p:nvSpPr>
        <p:spPr>
          <a:xfrm>
            <a:off x="4983480" y="2935224"/>
            <a:ext cx="192024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3013" name="Row 3013"/>
          <p:cNvSpPr/>
          <p:nvPr/>
        </p:nvSpPr>
        <p:spPr>
          <a:xfrm>
            <a:off x="777240" y="3355848"/>
            <a:ext cx="6126480" cy="374904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4" name="Text 3014"/>
          <p:cNvSpPr txBox="1"/>
          <p:nvPr/>
        </p:nvSpPr>
        <p:spPr>
          <a:xfrm>
            <a:off x="914400" y="3355848"/>
            <a:ext cx="17373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선물환 (환율 고정)</a:t>
            </a:r>
          </a:p>
        </p:txBody>
      </p:sp>
      <p:sp>
        <p:nvSpPr>
          <p:cNvPr id="3015" name="Text 3015"/>
          <p:cNvSpPr txBox="1"/>
          <p:nvPr/>
        </p:nvSpPr>
        <p:spPr>
          <a:xfrm>
            <a:off x="2514600" y="3355848"/>
            <a:ext cx="118872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578만원</a:t>
            </a:r>
          </a:p>
        </p:txBody>
      </p:sp>
      <p:sp>
        <p:nvSpPr>
          <p:cNvPr id="3016" name="Text 3016"/>
          <p:cNvSpPr txBox="1"/>
          <p:nvPr/>
        </p:nvSpPr>
        <p:spPr>
          <a:xfrm>
            <a:off x="3703320" y="3355848"/>
            <a:ext cx="12801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+226만원</a:t>
            </a:r>
          </a:p>
        </p:txBody>
      </p:sp>
      <p:sp>
        <p:nvSpPr>
          <p:cNvPr id="3017" name="Text 3017"/>
          <p:cNvSpPr txBox="1"/>
          <p:nvPr/>
        </p:nvSpPr>
        <p:spPr>
          <a:xfrm>
            <a:off x="4983480" y="3355848"/>
            <a:ext cx="192024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123만원 (35%)</a:t>
            </a:r>
          </a:p>
        </p:txBody>
      </p:sp>
      <p:sp>
        <p:nvSpPr>
          <p:cNvPr id="3018" name="Row 3018"/>
          <p:cNvSpPr/>
          <p:nvPr/>
        </p:nvSpPr>
        <p:spPr>
          <a:xfrm>
            <a:off x="777240" y="3776472"/>
            <a:ext cx="6126480" cy="374904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9" name="Text 3019"/>
          <p:cNvSpPr txBox="1"/>
          <p:nvPr/>
        </p:nvSpPr>
        <p:spPr>
          <a:xfrm>
            <a:off x="914400" y="3776472"/>
            <a:ext cx="17373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IRS (금리 고정)</a:t>
            </a:r>
          </a:p>
        </p:txBody>
      </p:sp>
      <p:sp>
        <p:nvSpPr>
          <p:cNvPr id="3020" name="Text 3020"/>
          <p:cNvSpPr txBox="1"/>
          <p:nvPr/>
        </p:nvSpPr>
        <p:spPr>
          <a:xfrm>
            <a:off x="2514600" y="3776472"/>
            <a:ext cx="118872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427만원</a:t>
            </a:r>
          </a:p>
        </p:txBody>
      </p:sp>
      <p:sp>
        <p:nvSpPr>
          <p:cNvPr id="3021" name="Text 3021"/>
          <p:cNvSpPr txBox="1"/>
          <p:nvPr/>
        </p:nvSpPr>
        <p:spPr>
          <a:xfrm>
            <a:off x="3703320" y="3776472"/>
            <a:ext cx="12801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+75만원</a:t>
            </a:r>
          </a:p>
        </p:txBody>
      </p:sp>
      <p:sp>
        <p:nvSpPr>
          <p:cNvPr id="3022" name="Text 3022"/>
          <p:cNvSpPr txBox="1"/>
          <p:nvPr/>
        </p:nvSpPr>
        <p:spPr>
          <a:xfrm>
            <a:off x="4983480" y="3776472"/>
            <a:ext cx="192024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274만원 (79%)</a:t>
            </a:r>
          </a:p>
        </p:txBody>
      </p:sp>
      <p:sp>
        <p:nvSpPr>
          <p:cNvPr id="3023" name="Row 3023"/>
          <p:cNvSpPr/>
          <p:nvPr/>
        </p:nvSpPr>
        <p:spPr>
          <a:xfrm>
            <a:off x="777240" y="4197096"/>
            <a:ext cx="6126480" cy="374904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24" name="Text 3024"/>
          <p:cNvSpPr txBox="1"/>
          <p:nvPr/>
        </p:nvSpPr>
        <p:spPr>
          <a:xfrm>
            <a:off x="914400" y="4197096"/>
            <a:ext cx="17373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IRS + 선물환</a:t>
            </a:r>
          </a:p>
        </p:txBody>
      </p:sp>
      <p:sp>
        <p:nvSpPr>
          <p:cNvPr id="3025" name="Text 3025"/>
          <p:cNvSpPr txBox="1"/>
          <p:nvPr/>
        </p:nvSpPr>
        <p:spPr>
          <a:xfrm>
            <a:off x="2514600" y="4197096"/>
            <a:ext cx="118872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352만원</a:t>
            </a:r>
          </a:p>
        </p:txBody>
      </p:sp>
      <p:sp>
        <p:nvSpPr>
          <p:cNvPr id="3026" name="Text 3026"/>
          <p:cNvSpPr txBox="1"/>
          <p:nvPr/>
        </p:nvSpPr>
        <p:spPr>
          <a:xfrm>
            <a:off x="3703320" y="4197096"/>
            <a:ext cx="128016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0만원</a:t>
            </a:r>
          </a:p>
        </p:txBody>
      </p:sp>
      <p:sp>
        <p:nvSpPr>
          <p:cNvPr id="3027" name="Text 3027"/>
          <p:cNvSpPr txBox="1"/>
          <p:nvPr/>
        </p:nvSpPr>
        <p:spPr>
          <a:xfrm>
            <a:off x="4983480" y="4197096"/>
            <a:ext cx="1920240" cy="374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348만원 (100%)</a:t>
            </a:r>
          </a:p>
        </p:txBody>
      </p:sp>
      <p:sp>
        <p:nvSpPr>
          <p:cNvPr id="3028" name="Text 3028"/>
          <p:cNvSpPr txBox="1"/>
          <p:nvPr/>
        </p:nvSpPr>
        <p:spPr>
          <a:xfrm>
            <a:off x="777240" y="470916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000" b="0">
                <a:solidFill>
                  <a:schemeClr val="dk2"/>
                </a:solidFill>
                <a:latin typeface="Malgun Gothic"/>
                <a:ea typeface="Malgun Gothic"/>
                <a:cs typeface="Malgun Gothic"/>
              </a:rPr>
              <a:t>※ 두 위험을 2020.01 실제 수준으로 고정했다고 가정한 단순 비교. 스왑 금리·선물환 포인트·헤지 비용은 반영하지 않음.</a:t>
            </a:r>
          </a:p>
        </p:txBody>
      </p:sp>
      <p:sp>
        <p:nvSpPr>
          <p:cNvPr id="3029" name="Card 3029"/>
          <p:cNvSpPr/>
          <p:nvPr/>
        </p:nvSpPr>
        <p:spPr>
          <a:xfrm>
            <a:off x="7315200" y="1554480"/>
            <a:ext cx="4328160" cy="3749040"/>
          </a:xfrm>
          <a:prstGeom prst="roundRect">
            <a:avLst>
              <a:gd fmla="val 5714" name="adj"/>
            </a:avLst>
          </a:prstGeom>
          <a:solidFill>
            <a:schemeClr val="lt2"/>
          </a:solidFill>
          <a:ln w="9525">
            <a:solidFill>
              <a:srgbClr val="E8EBEF"/>
            </a:solidFill>
          </a:ln>
          <a:effectLst>
            <a:outerShdw blurRad="101600" rotWithShape="0" algn="bl" dir="5400000" dist="25400">
              <a:srgbClr val="252A34">
                <a:alpha val="7843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3030" name="Text 3030"/>
          <p:cNvSpPr txBox="1"/>
          <p:nvPr/>
        </p:nvSpPr>
        <p:spPr>
          <a:xfrm>
            <a:off x="7543800" y="1755648"/>
            <a:ext cx="3870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RM 상담에 쓰는 법</a:t>
            </a:r>
          </a:p>
        </p:txBody>
      </p:sp>
      <p:sp>
        <p:nvSpPr>
          <p:cNvPr id="3031" name="Text 3031"/>
          <p:cNvSpPr txBox="1"/>
          <p:nvPr/>
        </p:nvSpPr>
        <p:spPr>
          <a:xfrm>
            <a:off x="7543800" y="2194560"/>
            <a:ext cx="387096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ko-KR" sz="13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① 금리 헤지가 먼저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IRS만으로 늘어난 이자의 79%를 막는다. 앞 장의 금리 기여 72%와 같은 방향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ko-KR" sz="13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② 환율 헤지는 보조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선물환은 35%. 원화 약세가 계속되면 효과가 커진다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ko-KR" sz="13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③ 둘을 더하면 348만원보다 크다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274+123=397만원. 금리와 환율이 함께 오른 몫(49만원)이 양쪽에 다 잡히기 때문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P03 2jo KB style">
  <a:themeElements>
    <a:clrScheme name="MP03 2jo KB style">
      <a:dk1>
        <a:srgbClr val="252A34"/>
      </a:dk1>
      <a:lt1>
        <a:srgbClr val="FFFFFF"/>
      </a:lt1>
      <a:dk2>
        <a:srgbClr val="5F6673"/>
      </a:dk2>
      <a:lt2>
        <a:srgbClr val="FFFFFF"/>
      </a:lt2>
      <a:accent1>
        <a:srgbClr val="4A90E2"/>
      </a:accent1>
      <a:accent2>
        <a:srgbClr val="FFBC00"/>
      </a:accent2>
      <a:accent3>
        <a:srgbClr val="A0A7B4"/>
      </a:accent3>
      <a:accent4>
        <a:srgbClr val="252A34"/>
      </a:accent4>
      <a:accent5>
        <a:srgbClr val="FFF4D1"/>
      </a:accent5>
      <a:accent6>
        <a:srgbClr val="ECEEF2"/>
      </a:accent6>
      <a:hlink>
        <a:srgbClr val="4A90E2"/>
      </a:hlink>
      <a:folHlink>
        <a:srgbClr val="5F66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P03 2jo KB style">
  <a:themeElements>
    <a:clrScheme name="MP03 2jo KB style">
      <a:dk1>
        <a:srgbClr val="252A34"/>
      </a:dk1>
      <a:lt1>
        <a:srgbClr val="FFFFFF"/>
      </a:lt1>
      <a:dk2>
        <a:srgbClr val="5F6673"/>
      </a:dk2>
      <a:lt2>
        <a:srgbClr val="FFFFFF"/>
      </a:lt2>
      <a:accent1>
        <a:srgbClr val="4A90E2"/>
      </a:accent1>
      <a:accent2>
        <a:srgbClr val="FFBC00"/>
      </a:accent2>
      <a:accent3>
        <a:srgbClr val="A0A7B4"/>
      </a:accent3>
      <a:accent4>
        <a:srgbClr val="252A34"/>
      </a:accent4>
      <a:accent5>
        <a:srgbClr val="FFF4D1"/>
      </a:accent5>
      <a:accent6>
        <a:srgbClr val="ECEEF2"/>
      </a:accent6>
      <a:hlink>
        <a:srgbClr val="4A90E2"/>
      </a:hlink>
      <a:folHlink>
        <a:srgbClr val="5F66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2026-10-03T03:29:55Z</dcterms:created>
  <dc:creator>PptxGenJS</dc:creator>
</cp:coreProperties>
</file>